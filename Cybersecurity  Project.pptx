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8288000" cy="10287000"/>
  <p:notesSz cx="6858000" cy="9144000"/>
  <p:embeddedFontLst>
    <p:embeddedFont>
      <p:font typeface="Arimo Bold" panose="020B0704020202020204" pitchFamily="34" charset="0"/>
      <p:regular r:id="rId55"/>
    </p:embeddedFont>
    <p:embeddedFont>
      <p:font typeface="League Spartan" pitchFamily="2" charset="0"/>
      <p:regular r:id="rId56"/>
    </p:embeddedFont>
    <p:embeddedFont>
      <p:font typeface="Montserrat" panose="02000000000000000000" pitchFamily="2" charset="0"/>
      <p:regular r:id="rId57"/>
    </p:embeddedFont>
    <p:embeddedFont>
      <p:font typeface="Montserrat Bold" pitchFamily="2" charset="0"/>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font" Target="fonts/font1.fntdata" /><Relationship Id="rId7" Type="http://schemas.openxmlformats.org/officeDocument/2006/relationships/slide" Target="slides/slide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font" Target="fonts/font4.fntdata"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font" Target="fonts/font3.fntdata" /><Relationship Id="rId61"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font" Target="fonts/font2.fntdata"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4" Type="http://schemas.openxmlformats.org/officeDocument/2006/relationships/image" Target="../media/image3.png" /><Relationship Id="rId9" Type="http://schemas.openxmlformats.org/officeDocument/2006/relationships/image" Target="../media/image8.sv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9.png"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0.png"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image" Target="../media/image11.pn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232928" cy="264690"/>
          </a:xfrm>
          <a:custGeom>
            <a:avLst/>
            <a:gdLst/>
            <a:ahLst/>
            <a:cxnLst/>
            <a:rect l="l" t="t" r="r" b="b"/>
            <a:pathLst>
              <a:path w="232928" h="264690">
                <a:moveTo>
                  <a:pt x="0" y="0"/>
                </a:moveTo>
                <a:lnTo>
                  <a:pt x="232928" y="0"/>
                </a:lnTo>
                <a:lnTo>
                  <a:pt x="232928" y="264690"/>
                </a:lnTo>
                <a:lnTo>
                  <a:pt x="0" y="2646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8216410" y="215410"/>
            <a:ext cx="9856180" cy="9856180"/>
          </a:xfrm>
          <a:custGeom>
            <a:avLst/>
            <a:gdLst/>
            <a:ahLst/>
            <a:cxnLst/>
            <a:rect l="l" t="t" r="r" b="b"/>
            <a:pathLst>
              <a:path w="9856180" h="9856180">
                <a:moveTo>
                  <a:pt x="0" y="0"/>
                </a:moveTo>
                <a:lnTo>
                  <a:pt x="9856180" y="0"/>
                </a:lnTo>
                <a:lnTo>
                  <a:pt x="9856180" y="9856180"/>
                </a:lnTo>
                <a:lnTo>
                  <a:pt x="0" y="98561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9378055" y="1293390"/>
            <a:ext cx="7532890" cy="7715250"/>
          </a:xfrm>
          <a:custGeom>
            <a:avLst/>
            <a:gdLst/>
            <a:ahLst/>
            <a:cxnLst/>
            <a:rect l="l" t="t" r="r" b="b"/>
            <a:pathLst>
              <a:path w="7532890" h="7715250">
                <a:moveTo>
                  <a:pt x="0" y="0"/>
                </a:moveTo>
                <a:lnTo>
                  <a:pt x="7532890" y="0"/>
                </a:lnTo>
                <a:lnTo>
                  <a:pt x="7532890" y="7715250"/>
                </a:lnTo>
                <a:lnTo>
                  <a:pt x="0" y="77152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flipH="1">
            <a:off x="0" y="-1756213"/>
            <a:ext cx="12043213" cy="12043213"/>
          </a:xfrm>
          <a:custGeom>
            <a:avLst/>
            <a:gdLst/>
            <a:ahLst/>
            <a:cxnLst/>
            <a:rect l="l" t="t" r="r" b="b"/>
            <a:pathLst>
              <a:path w="12043213" h="12043213">
                <a:moveTo>
                  <a:pt x="12043213" y="0"/>
                </a:moveTo>
                <a:lnTo>
                  <a:pt x="0" y="0"/>
                </a:lnTo>
                <a:lnTo>
                  <a:pt x="0" y="12043213"/>
                </a:lnTo>
                <a:lnTo>
                  <a:pt x="12043213" y="12043213"/>
                </a:lnTo>
                <a:lnTo>
                  <a:pt x="12043213" y="0"/>
                </a:lnTo>
                <a:close/>
              </a:path>
            </a:pathLst>
          </a:custGeom>
          <a:blipFill>
            <a:blip r:embed="rId8">
              <a:alphaModFix amt="18999"/>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TextBox 6"/>
          <p:cNvSpPr txBox="1"/>
          <p:nvPr/>
        </p:nvSpPr>
        <p:spPr>
          <a:xfrm>
            <a:off x="1346768" y="817612"/>
            <a:ext cx="3094236" cy="475778"/>
          </a:xfrm>
          <a:prstGeom prst="rect">
            <a:avLst/>
          </a:prstGeom>
        </p:spPr>
        <p:txBody>
          <a:bodyPr lIns="0" tIns="0" rIns="0" bIns="0" rtlCol="0" anchor="t">
            <a:spAutoFit/>
          </a:bodyPr>
          <a:lstStyle/>
          <a:p>
            <a:pPr algn="l">
              <a:lnSpc>
                <a:spcPts val="1868"/>
              </a:lnSpc>
            </a:pPr>
            <a:r>
              <a:rPr lang="en-US" sz="1557" b="1" spc="71">
                <a:solidFill>
                  <a:srgbClr val="FFFFFF"/>
                </a:solidFill>
                <a:latin typeface="Arimo Bold"/>
                <a:ea typeface="Arimo Bold"/>
                <a:cs typeface="Arimo Bold"/>
                <a:sym typeface="Arimo Bold"/>
              </a:rPr>
              <a:t>OROMAKINDE OLUSOLA MARGARET </a:t>
            </a:r>
          </a:p>
        </p:txBody>
      </p:sp>
      <p:sp>
        <p:nvSpPr>
          <p:cNvPr id="7" name="TextBox 7"/>
          <p:cNvSpPr txBox="1"/>
          <p:nvPr/>
        </p:nvSpPr>
        <p:spPr>
          <a:xfrm>
            <a:off x="1346768" y="9039225"/>
            <a:ext cx="4057650" cy="419100"/>
          </a:xfrm>
          <a:prstGeom prst="rect">
            <a:avLst/>
          </a:prstGeom>
        </p:spPr>
        <p:txBody>
          <a:bodyPr lIns="0" tIns="0" rIns="0" bIns="0" rtlCol="0" anchor="t">
            <a:spAutoFit/>
          </a:bodyPr>
          <a:lstStyle/>
          <a:p>
            <a:pPr algn="l">
              <a:lnSpc>
                <a:spcPts val="3206"/>
              </a:lnSpc>
            </a:pPr>
            <a:r>
              <a:rPr lang="en-US" sz="2671" b="1" spc="122">
                <a:solidFill>
                  <a:srgbClr val="000000"/>
                </a:solidFill>
                <a:latin typeface="Arimo Bold"/>
                <a:ea typeface="Arimo Bold"/>
                <a:cs typeface="Arimo Bold"/>
                <a:sym typeface="Arimo Bold"/>
              </a:rPr>
              <a:t>   LEARN MORE   </a:t>
            </a:r>
          </a:p>
        </p:txBody>
      </p:sp>
      <p:sp>
        <p:nvSpPr>
          <p:cNvPr id="8" name="TextBox 8"/>
          <p:cNvSpPr txBox="1"/>
          <p:nvPr/>
        </p:nvSpPr>
        <p:spPr>
          <a:xfrm>
            <a:off x="1145164" y="2052512"/>
            <a:ext cx="8115300" cy="3090988"/>
          </a:xfrm>
          <a:prstGeom prst="rect">
            <a:avLst/>
          </a:prstGeom>
        </p:spPr>
        <p:txBody>
          <a:bodyPr lIns="0" tIns="0" rIns="0" bIns="0" rtlCol="0" anchor="t">
            <a:spAutoFit/>
          </a:bodyPr>
          <a:lstStyle/>
          <a:p>
            <a:pPr algn="l">
              <a:lnSpc>
                <a:spcPts val="12302"/>
              </a:lnSpc>
            </a:pPr>
            <a:r>
              <a:rPr lang="en-US" sz="10167" b="1" spc="467">
                <a:solidFill>
                  <a:srgbClr val="00FFFF"/>
                </a:solidFill>
                <a:latin typeface="League Spartan"/>
                <a:ea typeface="League Spartan"/>
                <a:cs typeface="League Spartan"/>
                <a:sym typeface="League Spartan"/>
              </a:rPr>
              <a:t>CYBER SECURITY</a:t>
            </a:r>
          </a:p>
        </p:txBody>
      </p:sp>
      <p:sp>
        <p:nvSpPr>
          <p:cNvPr id="9" name="TextBox 9"/>
          <p:cNvSpPr txBox="1"/>
          <p:nvPr/>
        </p:nvSpPr>
        <p:spPr>
          <a:xfrm>
            <a:off x="1145164" y="5492090"/>
            <a:ext cx="7071246" cy="2732680"/>
          </a:xfrm>
          <a:prstGeom prst="rect">
            <a:avLst/>
          </a:prstGeom>
        </p:spPr>
        <p:txBody>
          <a:bodyPr lIns="0" tIns="0" rIns="0" bIns="0" rtlCol="0" anchor="t">
            <a:spAutoFit/>
          </a:bodyPr>
          <a:lstStyle/>
          <a:p>
            <a:pPr algn="l">
              <a:lnSpc>
                <a:spcPts val="4316"/>
              </a:lnSpc>
            </a:pPr>
            <a:r>
              <a:rPr lang="en-US" sz="3567" b="1" spc="164">
                <a:solidFill>
                  <a:srgbClr val="00FFFF"/>
                </a:solidFill>
                <a:latin typeface="League Spartan"/>
                <a:ea typeface="League Spartan"/>
                <a:cs typeface="League Spartan"/>
                <a:sym typeface="League Spartan"/>
              </a:rPr>
              <a:t>"PHISHING AWARENESS TRAINING: PROTECTING YOURSELF AND YOUR ORGANIZATION"</a:t>
            </a:r>
          </a:p>
          <a:p>
            <a:pPr algn="l">
              <a:lnSpc>
                <a:spcPts val="4316"/>
              </a:lnSpc>
            </a:pPr>
            <a:endParaRPr lang="en-US" sz="3567" b="1" spc="164">
              <a:solidFill>
                <a:srgbClr val="00FFFF"/>
              </a:solidFill>
              <a:latin typeface="League Spartan"/>
              <a:ea typeface="League Spartan"/>
              <a:cs typeface="League Spartan"/>
              <a:sym typeface="League Spart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821351" y="1019175"/>
            <a:ext cx="17839834" cy="6903721"/>
          </a:xfrm>
          <a:prstGeom prst="rect">
            <a:avLst/>
          </a:prstGeom>
        </p:spPr>
        <p:txBody>
          <a:bodyPr lIns="0" tIns="0" rIns="0" bIns="0" rtlCol="0" anchor="t">
            <a:spAutoFit/>
          </a:bodyPr>
          <a:lstStyle/>
          <a:p>
            <a:pPr algn="l">
              <a:lnSpc>
                <a:spcPts val="10890"/>
              </a:lnSpc>
            </a:pPr>
            <a:r>
              <a:rPr lang="en-US" sz="9000" b="1" spc="413">
                <a:solidFill>
                  <a:srgbClr val="00FFFF"/>
                </a:solidFill>
                <a:latin typeface="League Spartan"/>
                <a:ea typeface="League Spartan"/>
                <a:cs typeface="League Spartan"/>
                <a:sym typeface="League Spartan"/>
              </a:rPr>
              <a:t>"PHISHING AWARENESS TRAINING: PROTECTING YOURSELF AND YOUR ORGANIZATION"</a:t>
            </a:r>
          </a:p>
          <a:p>
            <a:pPr algn="l">
              <a:lnSpc>
                <a:spcPts val="10890"/>
              </a:lnSpc>
            </a:pPr>
            <a:endParaRPr lang="en-US" sz="9000" b="1" spc="413">
              <a:solidFill>
                <a:srgbClr val="00FFFF"/>
              </a:solidFill>
              <a:latin typeface="League Spartan"/>
              <a:ea typeface="League Spartan"/>
              <a:cs typeface="League Spartan"/>
              <a:sym typeface="League Spartan"/>
            </a:endParaRPr>
          </a:p>
        </p:txBody>
      </p:sp>
      <p:sp>
        <p:nvSpPr>
          <p:cNvPr id="3" name="TextBox 3"/>
          <p:cNvSpPr txBox="1"/>
          <p:nvPr/>
        </p:nvSpPr>
        <p:spPr>
          <a:xfrm>
            <a:off x="613816" y="9239250"/>
            <a:ext cx="7047128" cy="419100"/>
          </a:xfrm>
          <a:prstGeom prst="rect">
            <a:avLst/>
          </a:prstGeom>
        </p:spPr>
        <p:txBody>
          <a:bodyPr lIns="0" tIns="0" rIns="0" bIns="0" rtlCol="0" anchor="t">
            <a:spAutoFit/>
          </a:bodyPr>
          <a:lstStyle/>
          <a:p>
            <a:pPr algn="l">
              <a:lnSpc>
                <a:spcPts val="3206"/>
              </a:lnSpc>
            </a:pPr>
            <a:r>
              <a:rPr lang="en-US" sz="2671" b="1" spc="122">
                <a:solidFill>
                  <a:srgbClr val="000000"/>
                </a:solidFill>
                <a:latin typeface="Arimo Bold"/>
                <a:ea typeface="Arimo Bold"/>
                <a:cs typeface="Arimo Bold"/>
                <a:sym typeface="Arimo Bold"/>
              </a:rPr>
              <a:t>OROMAKINDE  OLUSOLA MARGARET </a:t>
            </a:r>
          </a:p>
        </p:txBody>
      </p:sp>
      <p:sp>
        <p:nvSpPr>
          <p:cNvPr id="4" name="TextBox 4"/>
          <p:cNvSpPr txBox="1"/>
          <p:nvPr/>
        </p:nvSpPr>
        <p:spPr>
          <a:xfrm>
            <a:off x="4137380" y="6860540"/>
            <a:ext cx="12532047" cy="1062355"/>
          </a:xfrm>
          <a:prstGeom prst="rect">
            <a:avLst/>
          </a:prstGeom>
        </p:spPr>
        <p:txBody>
          <a:bodyPr lIns="0" tIns="0" rIns="0" bIns="0" rtlCol="0" anchor="t">
            <a:spAutoFit/>
          </a:bodyPr>
          <a:lstStyle/>
          <a:p>
            <a:pPr algn="l">
              <a:lnSpc>
                <a:spcPts val="4234"/>
              </a:lnSpc>
            </a:pPr>
            <a:r>
              <a:rPr lang="en-US" sz="3499" b="1" spc="160">
                <a:solidFill>
                  <a:srgbClr val="FFFFFF"/>
                </a:solidFill>
                <a:latin typeface="League Spartan"/>
                <a:ea typeface="League Spartan"/>
                <a:cs typeface="League Spartan"/>
                <a:sym typeface="League Spartan"/>
              </a:rPr>
              <a:t>"A COMPREHENSIVE GUIDE TO RECOGNIZING AND AVOIDING PHISHING ATTACKS"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30814" y="3483706"/>
            <a:ext cx="16628486" cy="6197601"/>
          </a:xfrm>
          <a:prstGeom prst="rect">
            <a:avLst/>
          </a:prstGeom>
        </p:spPr>
        <p:txBody>
          <a:bodyPr lIns="0" tIns="0" rIns="0" bIns="0" rtlCol="0" anchor="t">
            <a:spAutoFit/>
          </a:bodyPr>
          <a:lstStyle/>
          <a:p>
            <a:pPr algn="just">
              <a:lnSpc>
                <a:spcPts val="7000"/>
              </a:lnSpc>
            </a:pPr>
            <a:r>
              <a:rPr lang="en-US" sz="5000" b="1">
                <a:solidFill>
                  <a:srgbClr val="FFFFFF"/>
                </a:solidFill>
                <a:latin typeface="Arimo Bold"/>
                <a:ea typeface="Arimo Bold"/>
                <a:cs typeface="Arimo Bold"/>
                <a:sym typeface="Arimo Bold"/>
              </a:rPr>
              <a:t>In today's digital age, cybersecurity is crucial due to increasing cyber threats. Prioritizing online security through strong passwords, multi-factor authentication, and vigilance against phishing attacks helps protect sensitive information and privacy. Proactive cybersecurity measures are recommended over reactive approaches.</a:t>
            </a:r>
          </a:p>
        </p:txBody>
      </p:sp>
      <p:sp>
        <p:nvSpPr>
          <p:cNvPr id="3" name="TextBox 3"/>
          <p:cNvSpPr txBox="1"/>
          <p:nvPr/>
        </p:nvSpPr>
        <p:spPr>
          <a:xfrm>
            <a:off x="630814" y="1305770"/>
            <a:ext cx="8115300" cy="1830705"/>
          </a:xfrm>
          <a:prstGeom prst="rect">
            <a:avLst/>
          </a:prstGeom>
        </p:spPr>
        <p:txBody>
          <a:bodyPr lIns="0" tIns="0" rIns="0" bIns="0" rtlCol="0" anchor="t">
            <a:spAutoFit/>
          </a:bodyPr>
          <a:lstStyle/>
          <a:p>
            <a:pPr algn="l">
              <a:lnSpc>
                <a:spcPts val="7259"/>
              </a:lnSpc>
            </a:pPr>
            <a:r>
              <a:rPr lang="en-US" sz="6000" b="1" spc="276">
                <a:solidFill>
                  <a:srgbClr val="00FFFF"/>
                </a:solidFill>
                <a:latin typeface="League Spartan"/>
                <a:ea typeface="League Spartan"/>
                <a:cs typeface="League Spartan"/>
                <a:sym typeface="League Spartan"/>
              </a:rPr>
              <a:t>CYBER</a:t>
            </a:r>
          </a:p>
          <a:p>
            <a:pPr algn="l">
              <a:lnSpc>
                <a:spcPts val="7259"/>
              </a:lnSpc>
            </a:pPr>
            <a:r>
              <a:rPr lang="en-US" sz="6000" b="1" spc="276">
                <a:solidFill>
                  <a:srgbClr val="00FFFF"/>
                </a:solidFill>
                <a:latin typeface="League Spartan"/>
                <a:ea typeface="League Spartan"/>
                <a:cs typeface="League Spartan"/>
                <a:sym typeface="League Spartan"/>
              </a:rPr>
              <a:t>SECURITY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795887" y="1802589"/>
            <a:ext cx="16696226" cy="11436351"/>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Phishing is a type of cyber attack where attackers try to trick individuals into revealing sensitive information, such as login credentials or financial information.</a:t>
            </a:r>
          </a:p>
          <a:p>
            <a:pPr algn="l">
              <a:lnSpc>
                <a:spcPts val="7000"/>
              </a:lnSpc>
            </a:pPr>
            <a:r>
              <a:rPr lang="en-US" sz="3500" b="1" spc="161">
                <a:solidFill>
                  <a:srgbClr val="FFFFFF"/>
                </a:solidFill>
                <a:latin typeface="Montserrat Bold"/>
                <a:ea typeface="Montserrat Bold"/>
                <a:cs typeface="Montserrat Bold"/>
                <a:sym typeface="Montserrat Bold"/>
              </a:rPr>
              <a:t>- Examples: Email, phone, or text message scams</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r>
              <a:rPr lang="en-US" sz="3500" b="1" spc="161">
                <a:solidFill>
                  <a:srgbClr val="FFFFFF"/>
                </a:solidFill>
                <a:latin typeface="Montserrat Bold"/>
                <a:ea typeface="Montserrat Bold"/>
                <a:cs typeface="Montserrat Bold"/>
                <a:sym typeface="Montserrat Bold"/>
              </a:rPr>
              <a:t>Phishing attacks can be launched through various channels, including email, phone, text message, and social media, and can have serious consequences, including financial loss, identity theft, and compromised security."</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endParaRPr lang="en-US" sz="3500" b="1" spc="161">
              <a:solidFill>
                <a:srgbClr val="FFFFFF"/>
              </a:solidFill>
              <a:latin typeface="Montserrat Bold"/>
              <a:ea typeface="Montserrat Bold"/>
              <a:cs typeface="Montserrat Bold"/>
              <a:sym typeface="Montserrat Bold"/>
            </a:endParaRPr>
          </a:p>
        </p:txBody>
      </p:sp>
      <p:sp>
        <p:nvSpPr>
          <p:cNvPr id="3" name="TextBox 3"/>
          <p:cNvSpPr txBox="1"/>
          <p:nvPr/>
        </p:nvSpPr>
        <p:spPr>
          <a:xfrm>
            <a:off x="1252783" y="716915"/>
            <a:ext cx="8115300" cy="765175"/>
          </a:xfrm>
          <a:prstGeom prst="rect">
            <a:avLst/>
          </a:prstGeom>
        </p:spPr>
        <p:txBody>
          <a:bodyPr lIns="0" tIns="0" rIns="0" bIns="0" rtlCol="0" anchor="t">
            <a:spAutoFit/>
          </a:bodyPr>
          <a:lstStyle/>
          <a:p>
            <a:pPr algn="l">
              <a:lnSpc>
                <a:spcPts val="6050"/>
              </a:lnSpc>
            </a:pPr>
            <a:r>
              <a:rPr lang="en-US" sz="5000" b="1" spc="230">
                <a:solidFill>
                  <a:srgbClr val="00FFFF"/>
                </a:solidFill>
                <a:latin typeface="League Spartan"/>
                <a:ea typeface="League Spartan"/>
                <a:cs typeface="League Spartan"/>
                <a:sym typeface="League Spartan"/>
              </a:rPr>
              <a:t>INTRODUCTION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2291467"/>
            <a:ext cx="16230600" cy="7305675"/>
          </a:xfrm>
          <a:prstGeom prst="rect">
            <a:avLst/>
          </a:prstGeom>
        </p:spPr>
        <p:txBody>
          <a:bodyPr lIns="0" tIns="0" rIns="0" bIns="0" rtlCol="0" anchor="t">
            <a:spAutoFit/>
          </a:bodyPr>
          <a:lstStyle/>
          <a:p>
            <a:pPr algn="l">
              <a:lnSpc>
                <a:spcPts val="5250"/>
              </a:lnSpc>
            </a:pPr>
            <a:r>
              <a:rPr lang="en-US" sz="3500" b="1" spc="161">
                <a:solidFill>
                  <a:srgbClr val="FFFFFF"/>
                </a:solidFill>
                <a:latin typeface="Montserrat Bold"/>
                <a:ea typeface="Montserrat Bold"/>
                <a:cs typeface="Montserrat Bold"/>
                <a:sym typeface="Montserrat Bold"/>
              </a:rPr>
              <a:t>Statistics: </a:t>
            </a:r>
          </a:p>
          <a:p>
            <a:pPr algn="l">
              <a:lnSpc>
                <a:spcPts val="5250"/>
              </a:lnSpc>
            </a:pPr>
            <a:endParaRPr lang="en-US" sz="3500" b="1" spc="161">
              <a:solidFill>
                <a:srgbClr val="FFFFFF"/>
              </a:solidFill>
              <a:latin typeface="Montserrat Bold"/>
              <a:ea typeface="Montserrat Bold"/>
              <a:cs typeface="Montserrat Bold"/>
              <a:sym typeface="Montserrat Bold"/>
            </a:endParaRPr>
          </a:p>
          <a:p>
            <a:pPr algn="l">
              <a:lnSpc>
                <a:spcPts val="5250"/>
              </a:lnSpc>
            </a:pPr>
            <a:r>
              <a:rPr lang="en-US" sz="3500" b="1" spc="161">
                <a:solidFill>
                  <a:srgbClr val="FFFFFF"/>
                </a:solidFill>
                <a:latin typeface="Montserrat Bold"/>
                <a:ea typeface="Montserrat Bold"/>
                <a:cs typeface="Montserrat Bold"/>
                <a:sym typeface="Montserrat Bold"/>
              </a:rPr>
              <a:t>Phishing attacks are on the rise, with millions of attacks reported every year. According to recent statistics, phishing attacks account for over 90% of data breaches.</a:t>
            </a:r>
          </a:p>
          <a:p>
            <a:pPr algn="l">
              <a:lnSpc>
                <a:spcPts val="5250"/>
              </a:lnSpc>
            </a:pPr>
            <a:endParaRPr lang="en-US" sz="3500" b="1" spc="161">
              <a:solidFill>
                <a:srgbClr val="FFFFFF"/>
              </a:solidFill>
              <a:latin typeface="Montserrat Bold"/>
              <a:ea typeface="Montserrat Bold"/>
              <a:cs typeface="Montserrat Bold"/>
              <a:sym typeface="Montserrat Bold"/>
            </a:endParaRPr>
          </a:p>
          <a:p>
            <a:pPr algn="l">
              <a:lnSpc>
                <a:spcPts val="5250"/>
              </a:lnSpc>
            </a:pPr>
            <a:r>
              <a:rPr lang="en-US" sz="3500" b="1" spc="161">
                <a:solidFill>
                  <a:srgbClr val="FFFFFF"/>
                </a:solidFill>
                <a:latin typeface="Montserrat Bold"/>
                <a:ea typeface="Montserrat Bold"/>
                <a:cs typeface="Montserrat Bold"/>
                <a:sym typeface="Montserrat Bold"/>
              </a:rPr>
              <a:t>  Consequences: </a:t>
            </a:r>
          </a:p>
          <a:p>
            <a:pPr algn="l">
              <a:lnSpc>
                <a:spcPts val="5250"/>
              </a:lnSpc>
            </a:pPr>
            <a:r>
              <a:rPr lang="en-US" sz="3500" b="1" spc="161">
                <a:solidFill>
                  <a:srgbClr val="FFFFFF"/>
                </a:solidFill>
                <a:latin typeface="Montserrat Bold"/>
                <a:ea typeface="Montserrat Bold"/>
                <a:cs typeface="Montserrat Bold"/>
                <a:sym typeface="Montserrat Bold"/>
              </a:rPr>
              <a:t>Phishing attacks can lead to financial loss, reputational damage, and compromised security. Individuals and organizations must be aware of the risks and take steps to protect themselves.</a:t>
            </a:r>
          </a:p>
        </p:txBody>
      </p:sp>
      <p:sp>
        <p:nvSpPr>
          <p:cNvPr id="3" name="TextBox 3"/>
          <p:cNvSpPr txBox="1"/>
          <p:nvPr/>
        </p:nvSpPr>
        <p:spPr>
          <a:xfrm>
            <a:off x="1028700" y="716915"/>
            <a:ext cx="8115300" cy="765175"/>
          </a:xfrm>
          <a:prstGeom prst="rect">
            <a:avLst/>
          </a:prstGeom>
        </p:spPr>
        <p:txBody>
          <a:bodyPr lIns="0" tIns="0" rIns="0" bIns="0" rtlCol="0" anchor="t">
            <a:spAutoFit/>
          </a:bodyPr>
          <a:lstStyle/>
          <a:p>
            <a:pPr algn="l">
              <a:lnSpc>
                <a:spcPts val="6050"/>
              </a:lnSpc>
            </a:pPr>
            <a:r>
              <a:rPr lang="en-US" sz="5000" b="1" spc="230">
                <a:solidFill>
                  <a:srgbClr val="00FFFF"/>
                </a:solidFill>
                <a:latin typeface="League Spartan"/>
                <a:ea typeface="League Spartan"/>
                <a:cs typeface="League Spartan"/>
                <a:sym typeface="League Spartan"/>
              </a:rPr>
              <a:t>OVERVIEW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757338" y="1979251"/>
            <a:ext cx="16230600" cy="8307749"/>
          </a:xfrm>
          <a:prstGeom prst="rect">
            <a:avLst/>
          </a:prstGeom>
        </p:spPr>
        <p:txBody>
          <a:bodyPr lIns="0" tIns="0" rIns="0" bIns="0" rtlCol="0" anchor="t">
            <a:spAutoFit/>
          </a:bodyPr>
          <a:lstStyle/>
          <a:p>
            <a:pPr algn="l">
              <a:lnSpc>
                <a:spcPts val="5548"/>
              </a:lnSpc>
            </a:pPr>
            <a:r>
              <a:rPr lang="en-US" sz="3698" b="1" spc="170">
                <a:solidFill>
                  <a:srgbClr val="FFFFFF"/>
                </a:solidFill>
                <a:latin typeface="Montserrat Bold"/>
                <a:ea typeface="Montserrat Bold"/>
                <a:cs typeface="Montserrat Bold"/>
                <a:sym typeface="Montserrat Bold"/>
              </a:rPr>
              <a:t>The Evolution of Phishing: From Early Days to Recent Trends</a:t>
            </a:r>
          </a:p>
          <a:p>
            <a:pPr algn="l">
              <a:lnSpc>
                <a:spcPts val="5548"/>
              </a:lnSpc>
            </a:pPr>
            <a:endParaRPr lang="en-US" sz="3698" b="1" spc="170">
              <a:solidFill>
                <a:srgbClr val="FFFFFF"/>
              </a:solidFill>
              <a:latin typeface="Montserrat Bold"/>
              <a:ea typeface="Montserrat Bold"/>
              <a:cs typeface="Montserrat Bold"/>
              <a:sym typeface="Montserrat Bold"/>
            </a:endParaRPr>
          </a:p>
          <a:p>
            <a:pPr algn="l">
              <a:lnSpc>
                <a:spcPts val="5548"/>
              </a:lnSpc>
            </a:pPr>
            <a:r>
              <a:rPr lang="en-US" sz="3698" b="1" spc="170">
                <a:solidFill>
                  <a:srgbClr val="FFFFFF"/>
                </a:solidFill>
                <a:latin typeface="Montserrat Bold"/>
                <a:ea typeface="Montserrat Bold"/>
                <a:cs typeface="Montserrat Bold"/>
                <a:sym typeface="Montserrat Bold"/>
              </a:rPr>
              <a:t>Early Days of Phishing (Late 1990s - Early 2000s)</a:t>
            </a:r>
          </a:p>
          <a:p>
            <a:pPr algn="l">
              <a:lnSpc>
                <a:spcPts val="5548"/>
              </a:lnSpc>
            </a:pPr>
            <a:endParaRPr lang="en-US" sz="3698" b="1" spc="170">
              <a:solidFill>
                <a:srgbClr val="FFFFFF"/>
              </a:solidFill>
              <a:latin typeface="Montserrat Bold"/>
              <a:ea typeface="Montserrat Bold"/>
              <a:cs typeface="Montserrat Bold"/>
              <a:sym typeface="Montserrat Bold"/>
            </a:endParaRPr>
          </a:p>
          <a:p>
            <a:pPr algn="l">
              <a:lnSpc>
                <a:spcPts val="5548"/>
              </a:lnSpc>
            </a:pPr>
            <a:r>
              <a:rPr lang="en-US" sz="3698" b="1" spc="170">
                <a:solidFill>
                  <a:srgbClr val="FFFFFF"/>
                </a:solidFill>
                <a:latin typeface="Montserrat Bold"/>
                <a:ea typeface="Montserrat Bold"/>
                <a:cs typeface="Montserrat Bold"/>
                <a:sym typeface="Montserrat Bold"/>
              </a:rPr>
              <a:t>Phishing originated in the late 1990s, with attackers using email scams to trick users into revealing sensitive information. These early phishing attacks often involved generic emails claiming to be from legitimate companies, such as banks or online services. Attackers would ask recipients to provide login credentials, financial information, or other sensitive data.</a:t>
            </a:r>
          </a:p>
          <a:p>
            <a:pPr algn="l">
              <a:lnSpc>
                <a:spcPts val="5548"/>
              </a:lnSpc>
            </a:pPr>
            <a:endParaRPr lang="en-US" sz="3698" b="1" spc="170">
              <a:solidFill>
                <a:srgbClr val="FFFFFF"/>
              </a:solidFill>
              <a:latin typeface="Montserrat Bold"/>
              <a:ea typeface="Montserrat Bold"/>
              <a:cs typeface="Montserrat Bold"/>
              <a:sym typeface="Montserrat Bold"/>
            </a:endParaRPr>
          </a:p>
        </p:txBody>
      </p:sp>
      <p:sp>
        <p:nvSpPr>
          <p:cNvPr id="3" name="TextBox 3"/>
          <p:cNvSpPr txBox="1"/>
          <p:nvPr/>
        </p:nvSpPr>
        <p:spPr>
          <a:xfrm>
            <a:off x="1028700" y="716915"/>
            <a:ext cx="8115300" cy="765175"/>
          </a:xfrm>
          <a:prstGeom prst="rect">
            <a:avLst/>
          </a:prstGeom>
        </p:spPr>
        <p:txBody>
          <a:bodyPr lIns="0" tIns="0" rIns="0" bIns="0" rtlCol="0" anchor="t">
            <a:spAutoFit/>
          </a:bodyPr>
          <a:lstStyle/>
          <a:p>
            <a:pPr algn="l">
              <a:lnSpc>
                <a:spcPts val="6050"/>
              </a:lnSpc>
            </a:pPr>
            <a:r>
              <a:rPr lang="en-US" sz="5000" b="1" spc="230">
                <a:solidFill>
                  <a:srgbClr val="00FFFF"/>
                </a:solidFill>
                <a:latin typeface="League Spartan"/>
                <a:ea typeface="League Spartan"/>
                <a:cs typeface="League Spartan"/>
                <a:sym typeface="League Spartan"/>
              </a:rPr>
              <a:t>EVOLUTION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514954"/>
            <a:ext cx="16230600" cy="7893050"/>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Email Scams and Fake Websites</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r>
              <a:rPr lang="en-US" sz="3500" b="1" spc="161">
                <a:solidFill>
                  <a:srgbClr val="FFFFFF"/>
                </a:solidFill>
                <a:latin typeface="Montserrat Bold"/>
                <a:ea typeface="Montserrat Bold"/>
                <a:cs typeface="Montserrat Bold"/>
                <a:sym typeface="Montserrat Bold"/>
              </a:rPr>
              <a:t>As phishing evolved, attackers began creating fake websites that mimicked legitimate sites. These fake websites would ask users to enter sensitive information, which would then be stolen by the attackers. Email scams continued to be a popular phishing tactic, with attackers using tactics like urgency and fear to trick users into taking action.</a:t>
            </a:r>
          </a:p>
          <a:p>
            <a:pPr algn="l">
              <a:lnSpc>
                <a:spcPts val="7000"/>
              </a:lnSpc>
            </a:pPr>
            <a:endParaRPr lang="en-US" sz="3500" b="1" spc="161">
              <a:solidFill>
                <a:srgbClr val="FFFFFF"/>
              </a:solidFill>
              <a:latin typeface="Montserrat Bold"/>
              <a:ea typeface="Montserrat Bold"/>
              <a:cs typeface="Montserrat Bold"/>
              <a:sym typeface="Montserrat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622300"/>
            <a:ext cx="16230600" cy="9664700"/>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EVOLUTION OF PHISHING (MID 2000S - 2010S)</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r>
              <a:rPr lang="en-US" sz="3500" b="1" spc="161">
                <a:solidFill>
                  <a:srgbClr val="FFFFFF"/>
                </a:solidFill>
                <a:latin typeface="Montserrat Bold"/>
                <a:ea typeface="Montserrat Bold"/>
                <a:cs typeface="Montserrat Bold"/>
                <a:sym typeface="Montserrat Bold"/>
              </a:rPr>
              <a:t>As users became more aware of phishing attacks, attackers adapted their tactics. This led to the development of:</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r>
              <a:rPr lang="en-US" sz="3500" b="1" spc="161">
                <a:solidFill>
                  <a:srgbClr val="FFFFFF"/>
                </a:solidFill>
                <a:latin typeface="Montserrat Bold"/>
                <a:ea typeface="Montserrat Bold"/>
                <a:cs typeface="Montserrat Bold"/>
                <a:sym typeface="Montserrat Bold"/>
              </a:rPr>
              <a:t>1. Social Engineering: Attackers began using psychological manipulation to build trust with their victims. This included using pretexting, baiting, and quid pro quo tactics to trick users into revealing sensitive information.</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endParaRPr lang="en-US" sz="3500" b="1" spc="161">
              <a:solidFill>
                <a:srgbClr val="FFFFFF"/>
              </a:solidFill>
              <a:latin typeface="Montserrat Bold"/>
              <a:ea typeface="Montserrat Bold"/>
              <a:cs typeface="Montserrat Bold"/>
              <a:sym typeface="Montserrat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514954"/>
            <a:ext cx="16230600" cy="7893050"/>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2. Spear Phishing: Attackers started targeting specific individuals or groups with tailored phishing attacks. These attacks were more sophisticated and often used information gathered from social media or other online sources.</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r>
              <a:rPr lang="en-US" sz="3500" b="1" spc="161">
                <a:solidFill>
                  <a:srgbClr val="FFFFFF"/>
                </a:solidFill>
                <a:latin typeface="Montserrat Bold"/>
                <a:ea typeface="Montserrat Bold"/>
                <a:cs typeface="Montserrat Bold"/>
                <a:sym typeface="Montserrat Bold"/>
              </a:rPr>
              <a:t>3. Whaling: Attackers targeted high-profile individuals, such as executives or celebrities, with sophisticated phishing attacks. These attacks often used personalized information and tactics to build trust with the victim.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93965"/>
            <a:ext cx="16230600" cy="10550525"/>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RECENT TRENDS (2010S - PRESENT)</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r>
              <a:rPr lang="en-US" sz="3500" b="1" spc="161">
                <a:solidFill>
                  <a:srgbClr val="FFFFFF"/>
                </a:solidFill>
                <a:latin typeface="Montserrat Bold"/>
                <a:ea typeface="Montserrat Bold"/>
                <a:cs typeface="Montserrat Bold"/>
                <a:sym typeface="Montserrat Bold"/>
              </a:rPr>
              <a:t>Phishing continues to evolve, with attackers exploiting new channels and technologies. Recent trends include:</a:t>
            </a:r>
          </a:p>
          <a:p>
            <a:pPr algn="l">
              <a:lnSpc>
                <a:spcPts val="7000"/>
              </a:lnSpc>
            </a:pPr>
            <a:r>
              <a:rPr lang="en-US" sz="3500" b="1" spc="161">
                <a:solidFill>
                  <a:srgbClr val="FFFFFF"/>
                </a:solidFill>
                <a:latin typeface="Montserrat Bold"/>
                <a:ea typeface="Montserrat Bold"/>
                <a:cs typeface="Montserrat Bold"/>
                <a:sym typeface="Montserrat Bold"/>
              </a:rPr>
              <a:t>1. Phishing via Social Media: Attackers use social media platforms to launch phishing attacks, often using direct messages or posts to trick users into revealing sensitive information.</a:t>
            </a:r>
          </a:p>
          <a:p>
            <a:pPr algn="l">
              <a:lnSpc>
                <a:spcPts val="7000"/>
              </a:lnSpc>
            </a:pPr>
            <a:r>
              <a:rPr lang="en-US" sz="3500" b="1" spc="161">
                <a:solidFill>
                  <a:srgbClr val="FFFFFF"/>
                </a:solidFill>
                <a:latin typeface="Montserrat Bold"/>
                <a:ea typeface="Montserrat Bold"/>
                <a:cs typeface="Montserrat Bold"/>
                <a:sym typeface="Montserrat Bold"/>
              </a:rPr>
              <a:t>2. Mobile Device Phishing: Attackers target mobile devices with phishing attacks, often using SMS or mobile apps to trick users into revealing sensitive information.</a:t>
            </a:r>
          </a:p>
          <a:p>
            <a:pPr algn="l">
              <a:lnSpc>
                <a:spcPts val="7000"/>
              </a:lnSpc>
            </a:pPr>
            <a:endParaRPr lang="en-US" sz="3500" b="1" spc="161">
              <a:solidFill>
                <a:srgbClr val="FFFFFF"/>
              </a:solidFill>
              <a:latin typeface="Montserrat Bold"/>
              <a:ea typeface="Montserrat Bold"/>
              <a:cs typeface="Montserrat Bold"/>
              <a:sym typeface="Montserrat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95276" y="479425"/>
            <a:ext cx="16230600" cy="8778875"/>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3. IoT Phishing: As the Internet of Things (IoT) grows, attackers are exploring new ways to exploit connected devices. This includes using IoT devices to launch phishing attacks or steal sensitive information.</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r>
              <a:rPr lang="en-US" sz="3500" b="1" spc="161">
                <a:solidFill>
                  <a:srgbClr val="FFFFFF"/>
                </a:solidFill>
                <a:latin typeface="Montserrat Bold"/>
                <a:ea typeface="Montserrat Bold"/>
                <a:cs typeface="Montserrat Bold"/>
                <a:sym typeface="Montserrat Bold"/>
              </a:rPr>
              <a:t>Today, phishing remains a significant threat to individuals and organizations. Attackers continue to adapt their tactics, making it essential to stay vigilant and educated on the latest phishing threats.</a:t>
            </a:r>
          </a:p>
          <a:p>
            <a:pPr algn="l">
              <a:lnSpc>
                <a:spcPts val="7000"/>
              </a:lnSpc>
            </a:pPr>
            <a:endParaRPr lang="en-US" sz="3500" b="1" spc="161">
              <a:solidFill>
                <a:srgbClr val="FFFFFF"/>
              </a:solidFill>
              <a:latin typeface="Montserrat Bold"/>
              <a:ea typeface="Montserrat Bold"/>
              <a:cs typeface="Montserrat Bold"/>
              <a:sym typeface="Montserrat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638299" y="357622"/>
            <a:ext cx="16230600" cy="1692275"/>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OVERVIEW OF PHISHING TACTICS AND TECHNIQUES</a:t>
            </a:r>
          </a:p>
          <a:p>
            <a:pPr algn="l">
              <a:lnSpc>
                <a:spcPts val="7000"/>
              </a:lnSpc>
            </a:pPr>
            <a:endParaRPr lang="en-US" sz="3500" b="1" spc="161">
              <a:solidFill>
                <a:srgbClr val="FFFFFF"/>
              </a:solidFill>
              <a:latin typeface="Montserrat Bold"/>
              <a:ea typeface="Montserrat Bold"/>
              <a:cs typeface="Montserrat Bold"/>
              <a:sym typeface="Montserrat Bold"/>
            </a:endParaRPr>
          </a:p>
        </p:txBody>
      </p:sp>
      <p:sp>
        <p:nvSpPr>
          <p:cNvPr id="3" name="TextBox 3"/>
          <p:cNvSpPr txBox="1"/>
          <p:nvPr/>
        </p:nvSpPr>
        <p:spPr>
          <a:xfrm>
            <a:off x="716933" y="1773671"/>
            <a:ext cx="16854133" cy="9664700"/>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some common methods of Tactics and Techniques include:</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 Deception: Attackers disguise themselves as trustworthy entities to gain victim trust.</a:t>
            </a:r>
          </a:p>
          <a:p>
            <a:pPr algn="l">
              <a:lnSpc>
                <a:spcPts val="7000"/>
              </a:lnSpc>
            </a:pPr>
            <a:endParaRPr lang="en-US" sz="3500" b="1" spc="161">
              <a:solidFill>
                <a:srgbClr val="FFFFFF"/>
              </a:solidFill>
              <a:latin typeface="Montserrat Bold"/>
              <a:ea typeface="Montserrat Bold"/>
              <a:cs typeface="Montserrat Bold"/>
              <a:sym typeface="Montserrat Bold"/>
            </a:endParaRP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Urgency: Attackers create a sense of urgency to prompt victims into taking action.</a:t>
            </a:r>
          </a:p>
          <a:p>
            <a:pPr algn="l">
              <a:lnSpc>
                <a:spcPts val="7000"/>
              </a:lnSpc>
            </a:pPr>
            <a:endParaRPr lang="en-US" sz="3500" b="1" spc="161">
              <a:solidFill>
                <a:srgbClr val="FFFFFF"/>
              </a:solidFill>
              <a:latin typeface="Montserrat Bold"/>
              <a:ea typeface="Montserrat Bold"/>
              <a:cs typeface="Montserrat Bold"/>
              <a:sym typeface="Montserrat Bold"/>
            </a:endParaRP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Emotional Manipulation: Attackers exploit emotions like fear, greed, or curiosity to influence victim decisions.</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endParaRPr lang="en-US" sz="3500" b="1" spc="161">
              <a:solidFill>
                <a:srgbClr val="FFFFFF"/>
              </a:solidFill>
              <a:latin typeface="Montserrat Bold"/>
              <a:ea typeface="Montserrat Bold"/>
              <a:cs typeface="Montserrat Bold"/>
              <a:sym typeface="Montserrat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5485" y="771525"/>
            <a:ext cx="16230600" cy="9980295"/>
          </a:xfrm>
          <a:prstGeom prst="rect">
            <a:avLst/>
          </a:prstGeom>
        </p:spPr>
        <p:txBody>
          <a:bodyPr lIns="0" tIns="0" rIns="0" bIns="0" rtlCol="0" anchor="t">
            <a:spAutoFit/>
          </a:bodyPr>
          <a:lstStyle/>
          <a:p>
            <a:pPr algn="l">
              <a:lnSpc>
                <a:spcPts val="6600"/>
              </a:lnSpc>
            </a:pPr>
            <a:r>
              <a:rPr lang="en-US" sz="3300" b="1" spc="151">
                <a:solidFill>
                  <a:srgbClr val="FFFFFF"/>
                </a:solidFill>
                <a:latin typeface="Montserrat Bold"/>
                <a:ea typeface="Montserrat Bold"/>
                <a:cs typeface="Montserrat Bold"/>
                <a:sym typeface="Montserrat Bold"/>
              </a:rPr>
              <a:t>SOCIAL ENGINEERING PRINCIPLES</a:t>
            </a:r>
          </a:p>
          <a:p>
            <a:pPr algn="l">
              <a:lnSpc>
                <a:spcPts val="6600"/>
              </a:lnSpc>
            </a:pPr>
            <a:r>
              <a:rPr lang="en-US" sz="3300" b="1" spc="151">
                <a:solidFill>
                  <a:srgbClr val="FFFFFF"/>
                </a:solidFill>
                <a:latin typeface="Montserrat Bold"/>
                <a:ea typeface="Montserrat Bold"/>
                <a:cs typeface="Montserrat Bold"/>
                <a:sym typeface="Montserrat Bold"/>
              </a:rPr>
              <a:t>Social engineering is a key component of phishing attacks. Attackers use various principles to manipulate victims, including:</a:t>
            </a:r>
          </a:p>
          <a:p>
            <a:pPr marL="712470" lvl="1" indent="-356235" algn="l">
              <a:lnSpc>
                <a:spcPts val="6600"/>
              </a:lnSpc>
              <a:buFont typeface="Arial"/>
              <a:buChar char="•"/>
            </a:pPr>
            <a:r>
              <a:rPr lang="en-US" sz="3300" b="1" spc="151">
                <a:solidFill>
                  <a:srgbClr val="FFFFFF"/>
                </a:solidFill>
                <a:latin typeface="Montserrat Bold"/>
                <a:ea typeface="Montserrat Bold"/>
                <a:cs typeface="Montserrat Bold"/>
                <a:sym typeface="Montserrat Bold"/>
              </a:rPr>
              <a:t>Building Trust: Attackers establish credibility by using familiar logos, jargon, or pretending to be a trusted individual.</a:t>
            </a:r>
          </a:p>
          <a:p>
            <a:pPr algn="l">
              <a:lnSpc>
                <a:spcPts val="6600"/>
              </a:lnSpc>
            </a:pPr>
            <a:endParaRPr lang="en-US" sz="3300" b="1" spc="151">
              <a:solidFill>
                <a:srgbClr val="FFFFFF"/>
              </a:solidFill>
              <a:latin typeface="Montserrat Bold"/>
              <a:ea typeface="Montserrat Bold"/>
              <a:cs typeface="Montserrat Bold"/>
              <a:sym typeface="Montserrat Bold"/>
            </a:endParaRPr>
          </a:p>
          <a:p>
            <a:pPr marL="712470" lvl="1" indent="-356235" algn="l">
              <a:lnSpc>
                <a:spcPts val="6600"/>
              </a:lnSpc>
              <a:buFont typeface="Arial"/>
              <a:buChar char="•"/>
            </a:pPr>
            <a:r>
              <a:rPr lang="en-US" sz="3300" b="1" spc="151">
                <a:solidFill>
                  <a:srgbClr val="FFFFFF"/>
                </a:solidFill>
                <a:latin typeface="Montserrat Bold"/>
                <a:ea typeface="Montserrat Bold"/>
                <a:cs typeface="Montserrat Bold"/>
                <a:sym typeface="Montserrat Bold"/>
              </a:rPr>
              <a:t> Creating Urgency: Attackers create a sense of urgency to prompt victims into taking action without thinking critically.</a:t>
            </a:r>
          </a:p>
          <a:p>
            <a:pPr algn="l">
              <a:lnSpc>
                <a:spcPts val="6600"/>
              </a:lnSpc>
            </a:pPr>
            <a:endParaRPr lang="en-US" sz="3300" b="1" spc="151">
              <a:solidFill>
                <a:srgbClr val="FFFFFF"/>
              </a:solidFill>
              <a:latin typeface="Montserrat Bold"/>
              <a:ea typeface="Montserrat Bold"/>
              <a:cs typeface="Montserrat Bold"/>
              <a:sym typeface="Montserrat Bold"/>
            </a:endParaRPr>
          </a:p>
          <a:p>
            <a:pPr marL="712470" lvl="1" indent="-356235" algn="l">
              <a:lnSpc>
                <a:spcPts val="6600"/>
              </a:lnSpc>
              <a:buFont typeface="Arial"/>
              <a:buChar char="•"/>
            </a:pPr>
            <a:r>
              <a:rPr lang="en-US" sz="3300" b="1" spc="151">
                <a:solidFill>
                  <a:srgbClr val="FFFFFF"/>
                </a:solidFill>
                <a:latin typeface="Montserrat Bold"/>
                <a:ea typeface="Montserrat Bold"/>
                <a:cs typeface="Montserrat Bold"/>
                <a:sym typeface="Montserrat Bold"/>
              </a:rPr>
              <a:t>Exploiting Emotions: Attackers use emotional triggers like fear, excitement, or curiosity to influence victim decisions.</a:t>
            </a:r>
          </a:p>
          <a:p>
            <a:pPr algn="l">
              <a:lnSpc>
                <a:spcPts val="6600"/>
              </a:lnSpc>
            </a:pPr>
            <a:endParaRPr lang="en-US" sz="3300" b="1" spc="151">
              <a:solidFill>
                <a:srgbClr val="FFFFFF"/>
              </a:solidFill>
              <a:latin typeface="Montserrat Bold"/>
              <a:ea typeface="Montserrat Bold"/>
              <a:cs typeface="Montserrat Bold"/>
              <a:sym typeface="Montserrat 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473565" y="2174441"/>
            <a:ext cx="17415338" cy="9664700"/>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COMMON PHISHING ATTACK VECTORS</a:t>
            </a:r>
          </a:p>
          <a:p>
            <a:pPr algn="l">
              <a:lnSpc>
                <a:spcPts val="7000"/>
              </a:lnSpc>
            </a:pPr>
            <a:r>
              <a:rPr lang="en-US" sz="3500" b="1" spc="161">
                <a:solidFill>
                  <a:srgbClr val="FFFFFF"/>
                </a:solidFill>
                <a:latin typeface="Montserrat Bold"/>
                <a:ea typeface="Montserrat Bold"/>
                <a:cs typeface="Montserrat Bold"/>
                <a:sym typeface="Montserrat Bold"/>
              </a:rPr>
              <a:t>Phishing attacks can be launched through various channels, including:</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Email: Attackers send phishing emails that appear to be from legitimate sources, often with malicious links or attachments.</a:t>
            </a:r>
          </a:p>
          <a:p>
            <a:pPr algn="l">
              <a:lnSpc>
                <a:spcPts val="7000"/>
              </a:lnSpc>
            </a:pPr>
            <a:endParaRPr lang="en-US" sz="3500" b="1" spc="161">
              <a:solidFill>
                <a:srgbClr val="FFFFFF"/>
              </a:solidFill>
              <a:latin typeface="Montserrat Bold"/>
              <a:ea typeface="Montserrat Bold"/>
              <a:cs typeface="Montserrat Bold"/>
              <a:sym typeface="Montserrat Bold"/>
            </a:endParaRP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Phone: Attackers use phone calls to trick victims into revealing sensitive information or performing certain actions.</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endParaRPr lang="en-US" sz="3500" b="1" spc="161">
              <a:solidFill>
                <a:srgbClr val="FFFFFF"/>
              </a:solidFill>
              <a:latin typeface="Montserrat Bold"/>
              <a:ea typeface="Montserrat Bold"/>
              <a:cs typeface="Montserrat Bold"/>
              <a:sym typeface="Montserrat Bold"/>
            </a:endParaRPr>
          </a:p>
        </p:txBody>
      </p:sp>
      <p:sp>
        <p:nvSpPr>
          <p:cNvPr id="3" name="TextBox 3"/>
          <p:cNvSpPr txBox="1"/>
          <p:nvPr/>
        </p:nvSpPr>
        <p:spPr>
          <a:xfrm>
            <a:off x="1028700" y="716915"/>
            <a:ext cx="16305069" cy="765175"/>
          </a:xfrm>
          <a:prstGeom prst="rect">
            <a:avLst/>
          </a:prstGeom>
        </p:spPr>
        <p:txBody>
          <a:bodyPr lIns="0" tIns="0" rIns="0" bIns="0" rtlCol="0" anchor="t">
            <a:spAutoFit/>
          </a:bodyPr>
          <a:lstStyle/>
          <a:p>
            <a:pPr algn="l">
              <a:lnSpc>
                <a:spcPts val="6050"/>
              </a:lnSpc>
            </a:pPr>
            <a:r>
              <a:rPr lang="en-US" sz="5000" b="1" spc="230">
                <a:solidFill>
                  <a:srgbClr val="00FFFF"/>
                </a:solidFill>
                <a:latin typeface="League Spartan"/>
                <a:ea typeface="League Spartan"/>
                <a:cs typeface="League Spartan"/>
                <a:sym typeface="League Spartan"/>
              </a:rPr>
              <a:t>RECOGNIZING PHISHING EMAILS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752475"/>
            <a:ext cx="16230600" cy="9664700"/>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Text Messages (SMS): Attackers send phishing text messages that appear to be from legitimate sources, often with malicious links or requests for sensitive information.</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r>
              <a:rPr lang="en-US" sz="3500" b="1" spc="161">
                <a:solidFill>
                  <a:srgbClr val="FFFFFF"/>
                </a:solidFill>
                <a:latin typeface="Montserrat Bold"/>
                <a:ea typeface="Montserrat Bold"/>
                <a:cs typeface="Montserrat Bold"/>
                <a:sym typeface="Montserrat Bold"/>
              </a:rPr>
              <a:t>Social Media: Attackers use social media platforms to launch phishing attacks, often through direct messages or posts that appear to be from legitimate sources.</a:t>
            </a:r>
          </a:p>
          <a:p>
            <a:pPr algn="l">
              <a:lnSpc>
                <a:spcPts val="7000"/>
              </a:lnSpc>
            </a:pPr>
            <a:r>
              <a:rPr lang="en-US" sz="3500" b="1" spc="161">
                <a:solidFill>
                  <a:srgbClr val="FFFFFF"/>
                </a:solidFill>
                <a:latin typeface="Montserrat Bold"/>
                <a:ea typeface="Montserrat Bold"/>
                <a:cs typeface="Montserrat Bold"/>
                <a:sym typeface="Montserrat Bold"/>
              </a:rPr>
              <a:t>These vectors are often used in combination with social engineering principles to increase the effectiveness of phishing attacks.</a:t>
            </a:r>
          </a:p>
          <a:p>
            <a:pPr algn="l">
              <a:lnSpc>
                <a:spcPts val="7000"/>
              </a:lnSpc>
            </a:pPr>
            <a:endParaRPr lang="en-US" sz="3500" b="1" spc="161">
              <a:solidFill>
                <a:srgbClr val="FFFFFF"/>
              </a:solidFill>
              <a:latin typeface="Montserrat Bold"/>
              <a:ea typeface="Montserrat Bold"/>
              <a:cs typeface="Montserrat Bold"/>
              <a:sym typeface="Montserrat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508125"/>
            <a:ext cx="16230600" cy="8778875"/>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Example 1: Fake Bank Email</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 Email claims to be from a bank, stating that the recipient's account has been compromised.</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The email asks the recipient to click on a link to verify their account information.</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Suspicious elements: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Generic greeting (e.g., "Dear customer")</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Urgent tone</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 Link to a suspicious website</a:t>
            </a:r>
          </a:p>
          <a:p>
            <a:pPr algn="l">
              <a:lnSpc>
                <a:spcPts val="7000"/>
              </a:lnSpc>
            </a:pPr>
            <a:endParaRPr lang="en-US" sz="3500" b="1" spc="161">
              <a:solidFill>
                <a:srgbClr val="FFFFFF"/>
              </a:solidFill>
              <a:latin typeface="Montserrat Bold"/>
              <a:ea typeface="Montserrat Bold"/>
              <a:cs typeface="Montserrat Bold"/>
              <a:sym typeface="Montserrat Bold"/>
            </a:endParaRPr>
          </a:p>
        </p:txBody>
      </p:sp>
      <p:sp>
        <p:nvSpPr>
          <p:cNvPr id="3" name="TextBox 3"/>
          <p:cNvSpPr txBox="1"/>
          <p:nvPr/>
        </p:nvSpPr>
        <p:spPr>
          <a:xfrm>
            <a:off x="2110409" y="41465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EXAMPLES AND CASE STUDY OF PHISHING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511184" y="752475"/>
            <a:ext cx="16230600" cy="7893050"/>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Example 2: Phishing Email with Malicious Attachment</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Email claims to be from a legitimate company, offering a job opportunity or business proposal.</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The email includes a malicious attachment that installs malware when opened.</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Suspicious elements: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Unsolicited job offer or proposal</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 Attachment from an unknown sender</a:t>
            </a:r>
          </a:p>
          <a:p>
            <a:pPr algn="l">
              <a:lnSpc>
                <a:spcPts val="7000"/>
              </a:lnSpc>
            </a:pPr>
            <a:endParaRPr lang="en-US" sz="3500" b="1" spc="161">
              <a:solidFill>
                <a:srgbClr val="FFFFFF"/>
              </a:solidFill>
              <a:latin typeface="Montserrat Bold"/>
              <a:ea typeface="Montserrat Bold"/>
              <a:cs typeface="Montserrat Bold"/>
              <a:sym typeface="Montserrat 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523090" y="752475"/>
            <a:ext cx="16230600" cy="8778875"/>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Example 3: Spear Phishing Email</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Email appears to be from a colleague or manager, requesting sensitive information or action.</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The email uses the recipient's name and references a specific project or tasks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Suspicious elements: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 Unusual request for sensitive information</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Lack of personal touch or tone inconsistent with the supposed sender</a:t>
            </a:r>
          </a:p>
          <a:p>
            <a:pPr algn="l">
              <a:lnSpc>
                <a:spcPts val="7000"/>
              </a:lnSpc>
            </a:pPr>
            <a:endParaRPr lang="en-US" sz="3500" b="1" spc="161">
              <a:solidFill>
                <a:srgbClr val="FFFFFF"/>
              </a:solidFill>
              <a:latin typeface="Montserrat Bold"/>
              <a:ea typeface="Montserrat Bold"/>
              <a:cs typeface="Montserrat Bold"/>
              <a:sym typeface="Montserrat Bo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239520"/>
            <a:ext cx="16230600" cy="8018780"/>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Case Study:</a:t>
            </a:r>
          </a:p>
          <a:p>
            <a:pPr algn="l">
              <a:lnSpc>
                <a:spcPts val="6400"/>
              </a:lnSpc>
            </a:pPr>
            <a:r>
              <a:rPr lang="en-US" sz="3200" b="1" spc="147">
                <a:solidFill>
                  <a:srgbClr val="FFFFFF"/>
                </a:solidFill>
                <a:latin typeface="Montserrat Bold"/>
                <a:ea typeface="Montserrat Bold"/>
                <a:cs typeface="Montserrat Bold"/>
                <a:sym typeface="Montserrat Bold"/>
              </a:rPr>
              <a:t>A company received an email that appeared to be from the CEO, requesting that an employee purchase gift cards and send them to a specific address. The email used the CEO's name and tone, but the employee noticed that the email was sent from a personal email address rather than the company's domain. The employee verified with the CEO, who confirmed that the email was a phishing attempt.</a:t>
            </a:r>
          </a:p>
          <a:p>
            <a:pPr algn="l">
              <a:lnSpc>
                <a:spcPts val="6400"/>
              </a:lnSpc>
            </a:pPr>
            <a:r>
              <a:rPr lang="en-US" sz="3200" b="1" spc="147">
                <a:solidFill>
                  <a:srgbClr val="FFFFFF"/>
                </a:solidFill>
                <a:latin typeface="Montserrat Bold"/>
                <a:ea typeface="Montserrat Bold"/>
                <a:cs typeface="Montserrat Bold"/>
                <a:sym typeface="Montserrat Bold"/>
              </a:rPr>
              <a:t>These examples illustrate common phishing tactics and the importance of being cautious when receiving unsolicited emails or requests for sensitive information.</a:t>
            </a:r>
          </a:p>
        </p:txBody>
      </p:sp>
      <p:sp>
        <p:nvSpPr>
          <p:cNvPr id="3" name="TextBox 3"/>
          <p:cNvSpPr txBox="1"/>
          <p:nvPr/>
        </p:nvSpPr>
        <p:spPr>
          <a:xfrm>
            <a:off x="6044045" y="41465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CASE STUDY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6350"/>
            <a:ext cx="16230600" cy="14171296"/>
          </a:xfrm>
          <a:prstGeom prst="rect">
            <a:avLst/>
          </a:prstGeom>
        </p:spPr>
        <p:txBody>
          <a:bodyPr lIns="0" tIns="0" rIns="0" bIns="0" rtlCol="0" anchor="t">
            <a:spAutoFit/>
          </a:bodyPr>
          <a:lstStyle/>
          <a:p>
            <a:pPr algn="l">
              <a:lnSpc>
                <a:spcPts val="6600"/>
              </a:lnSpc>
            </a:pPr>
            <a:endParaRPr/>
          </a:p>
          <a:p>
            <a:pPr algn="l">
              <a:lnSpc>
                <a:spcPts val="6600"/>
              </a:lnSpc>
            </a:pPr>
            <a:r>
              <a:rPr lang="en-US" sz="3300" b="1" spc="151">
                <a:solidFill>
                  <a:srgbClr val="FFFFFF"/>
                </a:solidFill>
                <a:latin typeface="Montserrat Bold"/>
                <a:ea typeface="Montserrat Bold"/>
                <a:cs typeface="Montserrat Bold"/>
                <a:sym typeface="Montserrat Bold"/>
              </a:rPr>
              <a:t>Fake websites are designed to deceive users into revealing sensitive information or installing malware. Characteristics of fake websites include:</a:t>
            </a:r>
          </a:p>
          <a:p>
            <a:pPr marL="712470" lvl="1" indent="-356235" algn="l">
              <a:lnSpc>
                <a:spcPts val="6600"/>
              </a:lnSpc>
              <a:buFont typeface="Arial"/>
              <a:buChar char="•"/>
            </a:pPr>
            <a:r>
              <a:rPr lang="en-US" sz="3300" b="1" spc="151">
                <a:solidFill>
                  <a:srgbClr val="FFFFFF"/>
                </a:solidFill>
                <a:latin typeface="Montserrat Bold"/>
                <a:ea typeface="Montserrat Bold"/>
                <a:cs typeface="Montserrat Bold"/>
                <a:sym typeface="Montserrat Bold"/>
              </a:rPr>
              <a:t>Similar domain name: Fake websites often have domain names similar to legitimate sites.</a:t>
            </a:r>
          </a:p>
          <a:p>
            <a:pPr marL="712470" lvl="1" indent="-356235" algn="l">
              <a:lnSpc>
                <a:spcPts val="6600"/>
              </a:lnSpc>
              <a:buFont typeface="Arial"/>
              <a:buChar char="•"/>
            </a:pPr>
            <a:r>
              <a:rPr lang="en-US" sz="3300" b="1" spc="151">
                <a:solidFill>
                  <a:srgbClr val="FFFFFF"/>
                </a:solidFill>
                <a:latin typeface="Montserrat Bold"/>
                <a:ea typeface="Montserrat Bold"/>
                <a:cs typeface="Montserrat Bold"/>
                <a:sym typeface="Montserrat Bold"/>
              </a:rPr>
              <a:t>Poor design: Fake websites may have poor design, grammar, or spelling mistakes.</a:t>
            </a:r>
          </a:p>
          <a:p>
            <a:pPr marL="712470" lvl="1" indent="-356235" algn="l">
              <a:lnSpc>
                <a:spcPts val="6600"/>
              </a:lnSpc>
              <a:buFont typeface="Arial"/>
              <a:buChar char="•"/>
            </a:pPr>
            <a:r>
              <a:rPr lang="en-US" sz="3300" b="1" spc="151">
                <a:solidFill>
                  <a:srgbClr val="FFFFFF"/>
                </a:solidFill>
                <a:latin typeface="Montserrat Bold"/>
                <a:ea typeface="Montserrat Bold"/>
                <a:cs typeface="Montserrat Bold"/>
                <a:sym typeface="Montserrat Bold"/>
              </a:rPr>
              <a:t>Requests for sensitive information: Fake websites may ask for login credentials, financial information, or other sensitive data.</a:t>
            </a:r>
          </a:p>
          <a:p>
            <a:pPr marL="712470" lvl="1" indent="-356235" algn="l">
              <a:lnSpc>
                <a:spcPts val="6600"/>
              </a:lnSpc>
              <a:buFont typeface="Arial"/>
              <a:buChar char="•"/>
            </a:pPr>
            <a:r>
              <a:rPr lang="en-US" sz="3300" b="1" spc="151">
                <a:solidFill>
                  <a:srgbClr val="FFFFFF"/>
                </a:solidFill>
                <a:latin typeface="Montserrat Bold"/>
                <a:ea typeface="Montserrat Bold"/>
                <a:cs typeface="Montserrat Bold"/>
                <a:sym typeface="Montserrat Bold"/>
              </a:rPr>
              <a:t>Unusual URL or SSL certificate: Fake websites may have unusual URLs or SSL certificate issues.</a:t>
            </a:r>
          </a:p>
          <a:p>
            <a:pPr algn="l">
              <a:lnSpc>
                <a:spcPts val="6600"/>
              </a:lnSpc>
            </a:pPr>
            <a:endParaRPr lang="en-US" sz="3300" b="1" spc="151">
              <a:solidFill>
                <a:srgbClr val="FFFFFF"/>
              </a:solidFill>
              <a:latin typeface="Montserrat Bold"/>
              <a:ea typeface="Montserrat Bold"/>
              <a:cs typeface="Montserrat Bold"/>
              <a:sym typeface="Montserrat Bold"/>
            </a:endParaRPr>
          </a:p>
          <a:p>
            <a:pPr algn="l">
              <a:lnSpc>
                <a:spcPts val="6600"/>
              </a:lnSpc>
            </a:pPr>
            <a:endParaRPr lang="en-US" sz="3300" b="1" spc="151">
              <a:solidFill>
                <a:srgbClr val="FFFFFF"/>
              </a:solidFill>
              <a:latin typeface="Montserrat Bold"/>
              <a:ea typeface="Montserrat Bold"/>
              <a:cs typeface="Montserrat Bold"/>
              <a:sym typeface="Montserrat Bold"/>
            </a:endParaRPr>
          </a:p>
          <a:p>
            <a:pPr algn="l">
              <a:lnSpc>
                <a:spcPts val="6600"/>
              </a:lnSpc>
            </a:pPr>
            <a:endParaRPr lang="en-US" sz="3300" b="1" spc="151">
              <a:solidFill>
                <a:srgbClr val="FFFFFF"/>
              </a:solidFill>
              <a:latin typeface="Montserrat Bold"/>
              <a:ea typeface="Montserrat Bold"/>
              <a:cs typeface="Montserrat Bold"/>
              <a:sym typeface="Montserrat Bold"/>
            </a:endParaRPr>
          </a:p>
          <a:p>
            <a:pPr algn="l">
              <a:lnSpc>
                <a:spcPts val="6600"/>
              </a:lnSpc>
            </a:pPr>
            <a:endParaRPr lang="en-US" sz="3300" b="1" spc="151">
              <a:solidFill>
                <a:srgbClr val="FFFFFF"/>
              </a:solidFill>
              <a:latin typeface="Montserrat Bold"/>
              <a:ea typeface="Montserrat Bold"/>
              <a:cs typeface="Montserrat Bold"/>
              <a:sym typeface="Montserrat Bold"/>
            </a:endParaRPr>
          </a:p>
          <a:p>
            <a:pPr algn="l">
              <a:lnSpc>
                <a:spcPts val="6600"/>
              </a:lnSpc>
            </a:pPr>
            <a:endParaRPr lang="en-US" sz="3300" b="1" spc="151">
              <a:solidFill>
                <a:srgbClr val="FFFFFF"/>
              </a:solidFill>
              <a:latin typeface="Montserrat Bold"/>
              <a:ea typeface="Montserrat Bold"/>
              <a:cs typeface="Montserrat Bold"/>
              <a:sym typeface="Montserrat Bold"/>
            </a:endParaRPr>
          </a:p>
        </p:txBody>
      </p:sp>
      <p:sp>
        <p:nvSpPr>
          <p:cNvPr id="3" name="TextBox 3"/>
          <p:cNvSpPr txBox="1"/>
          <p:nvPr/>
        </p:nvSpPr>
        <p:spPr>
          <a:xfrm>
            <a:off x="6044045" y="41465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FAKE WEBSITES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419097" y="200660"/>
            <a:ext cx="17868903" cy="9638030"/>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Types of Fake Websites</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Phishing websites: Designed to steal sensitive information.</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Malware websites: Designed to install malware on user's device.</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Scam websites: Designed to deceive users into making purchases or revealing financial information.</a:t>
            </a:r>
          </a:p>
          <a:p>
            <a:pPr algn="l">
              <a:lnSpc>
                <a:spcPts val="6400"/>
              </a:lnSpc>
            </a:pPr>
            <a:r>
              <a:rPr lang="en-US" sz="3200" b="1" spc="147">
                <a:solidFill>
                  <a:srgbClr val="FFFFFF"/>
                </a:solidFill>
                <a:latin typeface="Montserrat Bold"/>
                <a:ea typeface="Montserrat Bold"/>
                <a:cs typeface="Montserrat Bold"/>
                <a:sym typeface="Montserrat Bold"/>
              </a:rPr>
              <a:t>How to Identify Fake Websites</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Verify domain name: Check if the domain name is legitimate.</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Check for HTTPS: Ensure the website has a valid SSL certificate.</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Look for red flags: Be cautious of websites with poor design, grammar, or spelling mistakes.</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Use website reputation tools: Utilize tools to check website reputation and safety.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472047" y="2049145"/>
            <a:ext cx="16230600" cy="7209155"/>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Social Engineering Tactics</a:t>
            </a:r>
          </a:p>
          <a:p>
            <a:pPr algn="l">
              <a:lnSpc>
                <a:spcPts val="6400"/>
              </a:lnSpc>
            </a:pPr>
            <a:r>
              <a:rPr lang="en-US" sz="3200" b="1" spc="147">
                <a:solidFill>
                  <a:srgbClr val="FFFFFF"/>
                </a:solidFill>
                <a:latin typeface="Montserrat Bold"/>
                <a:ea typeface="Montserrat Bold"/>
                <a:cs typeface="Montserrat Bold"/>
                <a:sym typeface="Montserrat Bold"/>
              </a:rPr>
              <a:t>Social engineering tactics are used to manipulate individuals into revealing sensitive information or performing certain actions.</a:t>
            </a:r>
          </a:p>
          <a:p>
            <a:pPr algn="l">
              <a:lnSpc>
                <a:spcPts val="6400"/>
              </a:lnSpc>
            </a:pPr>
            <a:endParaRPr lang="en-US" sz="3200" b="1" spc="147">
              <a:solidFill>
                <a:srgbClr val="FFFFFF"/>
              </a:solidFill>
              <a:latin typeface="Montserrat Bold"/>
              <a:ea typeface="Montserrat Bold"/>
              <a:cs typeface="Montserrat Bold"/>
              <a:sym typeface="Montserrat Bold"/>
            </a:endParaRPr>
          </a:p>
          <a:p>
            <a:pPr algn="l">
              <a:lnSpc>
                <a:spcPts val="6400"/>
              </a:lnSpc>
            </a:pPr>
            <a:r>
              <a:rPr lang="en-US" sz="3200" b="1" spc="147">
                <a:solidFill>
                  <a:srgbClr val="FFFFFF"/>
                </a:solidFill>
                <a:latin typeface="Montserrat Bold"/>
                <a:ea typeface="Montserrat Bold"/>
                <a:cs typeface="Montserrat Bold"/>
                <a:sym typeface="Montserrat Bold"/>
              </a:rPr>
              <a:t>Common tactics include:</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Pretexting: Creating a fake scenario to gain trust and obtain sensitive information.</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Baiting: Offering something in exchange for sensitive information or access.</a:t>
            </a:r>
          </a:p>
        </p:txBody>
      </p:sp>
      <p:sp>
        <p:nvSpPr>
          <p:cNvPr id="3" name="TextBox 3"/>
          <p:cNvSpPr txBox="1"/>
          <p:nvPr/>
        </p:nvSpPr>
        <p:spPr>
          <a:xfrm>
            <a:off x="3907709" y="101917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SOCIAL ENGINEERING TACTICS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561974"/>
            <a:ext cx="16230600" cy="9638030"/>
          </a:xfrm>
          <a:prstGeom prst="rect">
            <a:avLst/>
          </a:prstGeom>
        </p:spPr>
        <p:txBody>
          <a:bodyPr lIns="0" tIns="0" rIns="0" bIns="0" rtlCol="0" anchor="t">
            <a:spAutoFit/>
          </a:bodyPr>
          <a:lstStyle/>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Quid Pro Quo: Offering a service or benefit in exchange for sensitive information or access.</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Authority: Impersonating someone in authority to gain trust and compliance.</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Scarcity: Creating a sense of urgency to prompt action without thinking critically.</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Social Proof: Using fake social proof (e.g., fake reviews, testimonials) to build credibility.</a:t>
            </a:r>
          </a:p>
          <a:p>
            <a:pPr algn="l">
              <a:lnSpc>
                <a:spcPts val="6400"/>
              </a:lnSpc>
            </a:pPr>
            <a:r>
              <a:rPr lang="en-US" sz="3200" b="1" spc="147">
                <a:solidFill>
                  <a:srgbClr val="FFFFFF"/>
                </a:solidFill>
                <a:latin typeface="Montserrat Bold"/>
                <a:ea typeface="Montserrat Bold"/>
                <a:cs typeface="Montserrat Bold"/>
                <a:sym typeface="Montserrat Bold"/>
              </a:rPr>
              <a:t>These tactics are often used in phishing attacks, phone scams, and other types of cyber attacks to exploit human psychology and gain unauthorized access to sensitive information.</a:t>
            </a:r>
          </a:p>
          <a:p>
            <a:pPr algn="l">
              <a:lnSpc>
                <a:spcPts val="6400"/>
              </a:lnSpc>
            </a:pPr>
            <a:endParaRPr lang="en-US" sz="3200" b="1" spc="147">
              <a:solidFill>
                <a:srgbClr val="FFFFFF"/>
              </a:solidFill>
              <a:latin typeface="Montserrat Bold"/>
              <a:ea typeface="Montserrat Bold"/>
              <a:cs typeface="Montserrat Bold"/>
              <a:sym typeface="Montserrat 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329170"/>
            <a:ext cx="16230600" cy="8375650"/>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Best Practices to Stay Safe Online</a:t>
            </a:r>
          </a:p>
          <a:p>
            <a:pPr algn="l">
              <a:lnSpc>
                <a:spcPts val="6400"/>
              </a:lnSpc>
            </a:pPr>
            <a:r>
              <a:rPr lang="en-US" sz="3200" b="1" spc="147">
                <a:solidFill>
                  <a:srgbClr val="FFFFFF"/>
                </a:solidFill>
                <a:latin typeface="Montserrat Bold"/>
                <a:ea typeface="Montserrat Bold"/>
                <a:cs typeface="Montserrat Bold"/>
                <a:sym typeface="Montserrat Bold"/>
              </a:rPr>
              <a:t>1. Verify sender information: Be cautious with emails or messages from unknown senders.</a:t>
            </a:r>
          </a:p>
          <a:p>
            <a:pPr algn="l">
              <a:lnSpc>
                <a:spcPts val="6400"/>
              </a:lnSpc>
            </a:pPr>
            <a:r>
              <a:rPr lang="en-US" sz="3200" b="1" spc="147">
                <a:solidFill>
                  <a:srgbClr val="FFFFFF"/>
                </a:solidFill>
                <a:latin typeface="Montserrat Bold"/>
                <a:ea typeface="Montserrat Bold"/>
                <a:cs typeface="Montserrat Bold"/>
                <a:sym typeface="Montserrat Bold"/>
              </a:rPr>
              <a:t>2. Use strong passwords: Use unique and complex passwords for all accounts.</a:t>
            </a:r>
          </a:p>
          <a:p>
            <a:pPr algn="l">
              <a:lnSpc>
                <a:spcPts val="6400"/>
              </a:lnSpc>
            </a:pPr>
            <a:r>
              <a:rPr lang="en-US" sz="3200" b="1" spc="147">
                <a:solidFill>
                  <a:srgbClr val="FFFFFF"/>
                </a:solidFill>
                <a:latin typeface="Montserrat Bold"/>
                <a:ea typeface="Montserrat Bold"/>
                <a:cs typeface="Montserrat Bold"/>
                <a:sym typeface="Montserrat Bold"/>
              </a:rPr>
              <a:t>3. Enable 2FA: Add an extra layer of security with two-factor authentication.</a:t>
            </a:r>
          </a:p>
          <a:p>
            <a:pPr algn="l">
              <a:lnSpc>
                <a:spcPts val="6400"/>
              </a:lnSpc>
            </a:pPr>
            <a:r>
              <a:rPr lang="en-US" sz="3200" b="1" spc="147">
                <a:solidFill>
                  <a:srgbClr val="FFFFFF"/>
                </a:solidFill>
                <a:latin typeface="Montserrat Bold"/>
                <a:ea typeface="Montserrat Bold"/>
                <a:cs typeface="Montserrat Bold"/>
                <a:sym typeface="Montserrat Bold"/>
              </a:rPr>
              <a:t>4. Keep software up-to-date: Regularly update operating systems, browsers, and apps.</a:t>
            </a:r>
          </a:p>
          <a:p>
            <a:pPr algn="l">
              <a:lnSpc>
                <a:spcPts val="6400"/>
              </a:lnSpc>
            </a:pPr>
            <a:endParaRPr lang="en-US" sz="3200" b="1" spc="147">
              <a:solidFill>
                <a:srgbClr val="FFFFFF"/>
              </a:solidFill>
              <a:latin typeface="Montserrat Bold"/>
              <a:ea typeface="Montserrat Bold"/>
              <a:cs typeface="Montserrat Bold"/>
              <a:sym typeface="Montserrat Bold"/>
            </a:endParaRPr>
          </a:p>
          <a:p>
            <a:pPr algn="l">
              <a:lnSpc>
                <a:spcPts val="1679"/>
              </a:lnSpc>
            </a:pPr>
            <a:r>
              <a:rPr lang="en-US" sz="1200" b="1">
                <a:solidFill>
                  <a:srgbClr val="FFFFFF"/>
                </a:solidFill>
                <a:latin typeface="Montserrat Bold"/>
                <a:ea typeface="Montserrat Bold"/>
                <a:cs typeface="Montserrat Bold"/>
                <a:sym typeface="Montserrat Bold"/>
              </a:rPr>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717958" y="1101894"/>
            <a:ext cx="16230600" cy="5669915"/>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5. Be cautious with links and attachments: Avoid suspicious links and attachments from unknown sources.</a:t>
            </a:r>
          </a:p>
          <a:p>
            <a:pPr algn="l">
              <a:lnSpc>
                <a:spcPts val="6400"/>
              </a:lnSpc>
            </a:pPr>
            <a:r>
              <a:rPr lang="en-US" sz="3200" b="1" spc="147">
                <a:solidFill>
                  <a:srgbClr val="FFFFFF"/>
                </a:solidFill>
                <a:latin typeface="Montserrat Bold"/>
                <a:ea typeface="Montserrat Bold"/>
                <a:cs typeface="Montserrat Bold"/>
                <a:sym typeface="Montserrat Bold"/>
              </a:rPr>
              <a:t>6. Use antivirus software: Install and regularly update antivirus software.</a:t>
            </a:r>
          </a:p>
          <a:p>
            <a:pPr algn="l">
              <a:lnSpc>
                <a:spcPts val="7000"/>
              </a:lnSpc>
            </a:pPr>
            <a:r>
              <a:rPr lang="en-US" sz="3500" b="1" spc="161">
                <a:solidFill>
                  <a:srgbClr val="FFFFFF"/>
                </a:solidFill>
                <a:latin typeface="Montserrat Bold"/>
                <a:ea typeface="Montserrat Bold"/>
                <a:cs typeface="Montserrat Bold"/>
                <a:sym typeface="Montserrat Bold"/>
              </a:rPr>
              <a:t>7. Use a VPN: Consider using a virtual private network (VPN) for added security.</a:t>
            </a:r>
          </a:p>
          <a:p>
            <a:pPr algn="l">
              <a:lnSpc>
                <a:spcPts val="4900"/>
              </a:lnSpc>
            </a:pPr>
            <a:r>
              <a:rPr lang="en-US" sz="3500">
                <a:solidFill>
                  <a:srgbClr val="FFFFFF"/>
                </a:solidFill>
                <a:latin typeface="Montserrat"/>
                <a:ea typeface="Montserrat"/>
                <a:cs typeface="Montserrat"/>
                <a:sym typeface="Montserrat"/>
              </a:rPr>
              <a:t>      S</a:t>
            </a:r>
            <a:r>
              <a:rPr lang="en-US" sz="3500" b="1">
                <a:solidFill>
                  <a:srgbClr val="FFFFFF"/>
                </a:solidFill>
                <a:latin typeface="Montserrat Bold"/>
                <a:ea typeface="Montserrat Bold"/>
                <a:cs typeface="Montserrat Bold"/>
                <a:sym typeface="Montserrat Bold"/>
              </a:rPr>
              <a:t>tay vigilant and stay safe!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444339" y="1641475"/>
            <a:ext cx="16230600" cy="8645525"/>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Applying Phishing Awareness in Daily Life and at Work*</a:t>
            </a:r>
          </a:p>
          <a:p>
            <a:pPr algn="l">
              <a:lnSpc>
                <a:spcPts val="7000"/>
              </a:lnSpc>
            </a:pPr>
            <a:r>
              <a:rPr lang="en-US" sz="3500" b="1" spc="161">
                <a:solidFill>
                  <a:srgbClr val="FFFFFF"/>
                </a:solidFill>
                <a:latin typeface="Montserrat Bold"/>
                <a:ea typeface="Montserrat Bold"/>
                <a:cs typeface="Montserrat Bold"/>
                <a:sym typeface="Montserrat Bold"/>
              </a:rPr>
              <a:t>Phishing awareness is crucial in both personal and professional settings. Here's how to apply phishing awareness in daily life and at work:</a:t>
            </a:r>
          </a:p>
          <a:p>
            <a:pPr algn="l">
              <a:lnSpc>
                <a:spcPts val="7000"/>
              </a:lnSpc>
            </a:pPr>
            <a:r>
              <a:rPr lang="en-US" sz="3500" b="1" spc="161">
                <a:solidFill>
                  <a:srgbClr val="FFFFFF"/>
                </a:solidFill>
                <a:latin typeface="Montserrat Bold"/>
                <a:ea typeface="Montserrat Bold"/>
                <a:cs typeface="Montserrat Bold"/>
                <a:sym typeface="Montserrat Bold"/>
              </a:rPr>
              <a:t>Personal Life:</a:t>
            </a:r>
          </a:p>
          <a:p>
            <a:pPr algn="l">
              <a:lnSpc>
                <a:spcPts val="7000"/>
              </a:lnSpc>
            </a:pPr>
            <a:r>
              <a:rPr lang="en-US" sz="3500" b="1" spc="161">
                <a:solidFill>
                  <a:srgbClr val="FFFFFF"/>
                </a:solidFill>
                <a:latin typeface="Montserrat Bold"/>
                <a:ea typeface="Montserrat Bold"/>
                <a:cs typeface="Montserrat Bold"/>
                <a:sym typeface="Montserrat Bold"/>
              </a:rPr>
              <a:t>1. Be cautious with emails: Be wary of suspicious emails, especially those asking for sensitive information.</a:t>
            </a:r>
          </a:p>
          <a:p>
            <a:pPr algn="l">
              <a:lnSpc>
                <a:spcPts val="7000"/>
              </a:lnSpc>
            </a:pPr>
            <a:r>
              <a:rPr lang="en-US" sz="3500" b="1" spc="161">
                <a:solidFill>
                  <a:srgbClr val="FFFFFF"/>
                </a:solidFill>
                <a:latin typeface="Montserrat Bold"/>
                <a:ea typeface="Montserrat Bold"/>
                <a:cs typeface="Montserrat Bold"/>
                <a:sym typeface="Montserrat Bold"/>
              </a:rPr>
              <a:t>2. Verify sender information: Check the sender's email address to ensure it's legitimate.</a:t>
            </a:r>
          </a:p>
          <a:p>
            <a:pPr algn="l">
              <a:lnSpc>
                <a:spcPts val="4900"/>
              </a:lnSpc>
            </a:pPr>
            <a:endParaRPr lang="en-US" sz="3500" b="1" spc="161">
              <a:solidFill>
                <a:srgbClr val="FFFFFF"/>
              </a:solidFill>
              <a:latin typeface="Montserrat Bold"/>
              <a:ea typeface="Montserrat Bold"/>
              <a:cs typeface="Montserrat Bold"/>
              <a:sym typeface="Montserrat Bold"/>
            </a:endParaRPr>
          </a:p>
        </p:txBody>
      </p:sp>
      <p:sp>
        <p:nvSpPr>
          <p:cNvPr id="3" name="TextBox 3"/>
          <p:cNvSpPr txBox="1"/>
          <p:nvPr/>
        </p:nvSpPr>
        <p:spPr>
          <a:xfrm>
            <a:off x="3270401" y="71691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APPLICATION AND IMPLEMENTATION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47038" y="781050"/>
            <a:ext cx="16230600" cy="8828405"/>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3. Avoid suspicious links: Don't click on links from unknown senders or those that seem suspicious.</a:t>
            </a:r>
          </a:p>
          <a:p>
            <a:pPr algn="l">
              <a:lnSpc>
                <a:spcPts val="6400"/>
              </a:lnSpc>
            </a:pPr>
            <a:r>
              <a:rPr lang="en-US" sz="3200" b="1" spc="147">
                <a:solidFill>
                  <a:srgbClr val="FFFFFF"/>
                </a:solidFill>
                <a:latin typeface="Montserrat Bold"/>
                <a:ea typeface="Montserrat Bold"/>
                <a:cs typeface="Montserrat Bold"/>
                <a:sym typeface="Montserrat Bold"/>
              </a:rPr>
              <a:t>4. Use strong passwords: Use unique and complex passwords for all accounts.</a:t>
            </a:r>
          </a:p>
          <a:p>
            <a:pPr algn="l">
              <a:lnSpc>
                <a:spcPts val="6400"/>
              </a:lnSpc>
            </a:pPr>
            <a:r>
              <a:rPr lang="en-US" sz="3200" b="1" spc="147">
                <a:solidFill>
                  <a:srgbClr val="FFFFFF"/>
                </a:solidFill>
                <a:latin typeface="Montserrat Bold"/>
                <a:ea typeface="Montserrat Bold"/>
                <a:cs typeface="Montserrat Bold"/>
                <a:sym typeface="Montserrat Bold"/>
              </a:rPr>
              <a:t>5. Enable 2FA: Add an extra layer of security with two-factor authentication.</a:t>
            </a:r>
          </a:p>
          <a:p>
            <a:pPr algn="l">
              <a:lnSpc>
                <a:spcPts val="6400"/>
              </a:lnSpc>
            </a:pPr>
            <a:r>
              <a:rPr lang="en-US" sz="3200" b="1" spc="147">
                <a:solidFill>
                  <a:srgbClr val="FFFFFF"/>
                </a:solidFill>
                <a:latin typeface="Montserrat Bold"/>
                <a:ea typeface="Montserrat Bold"/>
                <a:cs typeface="Montserrat Bold"/>
                <a:sym typeface="Montserrat Bold"/>
              </a:rPr>
              <a:t>6. Keep software up-to-date: Regularly update operating systems, browsers, and apps.</a:t>
            </a:r>
          </a:p>
          <a:p>
            <a:pPr algn="l">
              <a:lnSpc>
                <a:spcPts val="6400"/>
              </a:lnSpc>
            </a:pPr>
            <a:r>
              <a:rPr lang="en-US" sz="3200" b="1" spc="147">
                <a:solidFill>
                  <a:srgbClr val="FFFFFF"/>
                </a:solidFill>
                <a:latin typeface="Montserrat Bold"/>
                <a:ea typeface="Montserrat Bold"/>
                <a:cs typeface="Montserrat Bold"/>
                <a:sym typeface="Montserrat Bold"/>
              </a:rPr>
              <a:t>7. Use antivirus software: Install and regularly update antivirus software.</a:t>
            </a:r>
          </a:p>
          <a:p>
            <a:pPr algn="l">
              <a:lnSpc>
                <a:spcPts val="6400"/>
              </a:lnSpc>
            </a:pPr>
            <a:endParaRPr lang="en-US" sz="3200" b="1" spc="147">
              <a:solidFill>
                <a:srgbClr val="FFFFFF"/>
              </a:solidFill>
              <a:latin typeface="Montserrat Bold"/>
              <a:ea typeface="Montserrat Bold"/>
              <a:cs typeface="Montserrat Bold"/>
              <a:sym typeface="Montserrat 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590675"/>
            <a:ext cx="16230600" cy="8018780"/>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At Work:</a:t>
            </a:r>
          </a:p>
          <a:p>
            <a:pPr algn="l">
              <a:lnSpc>
                <a:spcPts val="6400"/>
              </a:lnSpc>
            </a:pPr>
            <a:r>
              <a:rPr lang="en-US" sz="3200" b="1" spc="147">
                <a:solidFill>
                  <a:srgbClr val="FFFFFF"/>
                </a:solidFill>
                <a:latin typeface="Montserrat Bold"/>
                <a:ea typeface="Montserrat Bold"/>
                <a:cs typeface="Montserrat Bold"/>
                <a:sym typeface="Montserrat Bold"/>
              </a:rPr>
              <a:t>1. Employee training: Provide regular phishing awareness training for employees.</a:t>
            </a:r>
          </a:p>
          <a:p>
            <a:pPr algn="l">
              <a:lnSpc>
                <a:spcPts val="6400"/>
              </a:lnSpc>
            </a:pPr>
            <a:r>
              <a:rPr lang="en-US" sz="3200" b="1" spc="147">
                <a:solidFill>
                  <a:srgbClr val="FFFFFF"/>
                </a:solidFill>
                <a:latin typeface="Montserrat Bold"/>
                <a:ea typeface="Montserrat Bold"/>
                <a:cs typeface="Montserrat Bold"/>
                <a:sym typeface="Montserrat Bold"/>
              </a:rPr>
              <a:t>2. Email filtering: Implement email filtering systems to block suspicious emails.</a:t>
            </a:r>
          </a:p>
          <a:p>
            <a:pPr algn="l">
              <a:lnSpc>
                <a:spcPts val="6400"/>
              </a:lnSpc>
            </a:pPr>
            <a:r>
              <a:rPr lang="en-US" sz="3200" b="1" spc="147">
                <a:solidFill>
                  <a:srgbClr val="FFFFFF"/>
                </a:solidFill>
                <a:latin typeface="Montserrat Bold"/>
                <a:ea typeface="Montserrat Bold"/>
                <a:cs typeface="Montserrat Bold"/>
                <a:sym typeface="Montserrat Bold"/>
              </a:rPr>
              <a:t>3. Verify requests: Verify requests for sensitive information or financial transactions.</a:t>
            </a:r>
          </a:p>
          <a:p>
            <a:pPr algn="l">
              <a:lnSpc>
                <a:spcPts val="6400"/>
              </a:lnSpc>
            </a:pPr>
            <a:r>
              <a:rPr lang="en-US" sz="3200" b="1" spc="147">
                <a:solidFill>
                  <a:srgbClr val="FFFFFF"/>
                </a:solidFill>
                <a:latin typeface="Montserrat Bold"/>
                <a:ea typeface="Montserrat Bold"/>
                <a:cs typeface="Montserrat Bold"/>
                <a:sym typeface="Montserrat Bold"/>
              </a:rPr>
              <a:t>4. Use secure communication channels: Use secure communication channels, such as encrypted email or messaging apps</a:t>
            </a:r>
          </a:p>
          <a:p>
            <a:pPr algn="l">
              <a:lnSpc>
                <a:spcPts val="6400"/>
              </a:lnSpc>
            </a:pPr>
            <a:endParaRPr lang="en-US" sz="3200" b="1" spc="147">
              <a:solidFill>
                <a:srgbClr val="FFFFFF"/>
              </a:solidFill>
              <a:latin typeface="Montserrat Bold"/>
              <a:ea typeface="Montserrat Bold"/>
              <a:cs typeface="Montserrat Bold"/>
              <a:sym typeface="Montserrat Bo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325383"/>
            <a:ext cx="16230600" cy="10447655"/>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5. Incident response plan: Establish an incident response plan in case of a phishing attack.</a:t>
            </a:r>
          </a:p>
          <a:p>
            <a:pPr algn="l">
              <a:lnSpc>
                <a:spcPts val="6400"/>
              </a:lnSpc>
            </a:pPr>
            <a:r>
              <a:rPr lang="en-US" sz="3200" b="1" spc="147">
                <a:solidFill>
                  <a:srgbClr val="FFFFFF"/>
                </a:solidFill>
                <a:latin typeface="Montserrat Bold"/>
                <a:ea typeface="Montserrat Bold"/>
                <a:cs typeface="Montserrat Bold"/>
                <a:sym typeface="Montserrat Bold"/>
              </a:rPr>
              <a:t>6. Regular security updates: Regularly update security software and systems.</a:t>
            </a:r>
          </a:p>
          <a:p>
            <a:pPr algn="l">
              <a:lnSpc>
                <a:spcPts val="6400"/>
              </a:lnSpc>
            </a:pPr>
            <a:r>
              <a:rPr lang="en-US" sz="3200" b="1" spc="147">
                <a:solidFill>
                  <a:srgbClr val="FFFFFF"/>
                </a:solidFill>
                <a:latin typeface="Montserrat Bold"/>
                <a:ea typeface="Montserrat Bold"/>
                <a:cs typeface="Montserrat Bold"/>
                <a:sym typeface="Montserrat Bold"/>
              </a:rPr>
              <a:t>7. Reporting suspicious activity: Encourage employees to report suspicious activity.</a:t>
            </a:r>
          </a:p>
          <a:p>
            <a:pPr algn="l">
              <a:lnSpc>
                <a:spcPts val="6400"/>
              </a:lnSpc>
            </a:pPr>
            <a:r>
              <a:rPr lang="en-US" sz="3200" b="1" spc="147">
                <a:solidFill>
                  <a:srgbClr val="FFFFFF"/>
                </a:solidFill>
                <a:latin typeface="Montserrat Bold"/>
                <a:ea typeface="Montserrat Bold"/>
                <a:cs typeface="Montserrat Bold"/>
                <a:sym typeface="Montserrat Bold"/>
              </a:rPr>
              <a:t>Best Practices:</a:t>
            </a:r>
          </a:p>
          <a:p>
            <a:pPr algn="l">
              <a:lnSpc>
                <a:spcPts val="6400"/>
              </a:lnSpc>
            </a:pPr>
            <a:r>
              <a:rPr lang="en-US" sz="3200" b="1" spc="147">
                <a:solidFill>
                  <a:srgbClr val="FFFFFF"/>
                </a:solidFill>
                <a:latin typeface="Montserrat Bold"/>
                <a:ea typeface="Montserrat Bold"/>
                <a:cs typeface="Montserrat Bold"/>
                <a:sym typeface="Montserrat Bold"/>
              </a:rPr>
              <a:t>1. Stay informed: Stay up-to-date with the latest phishing tactics and trends.</a:t>
            </a:r>
          </a:p>
          <a:p>
            <a:pPr algn="l">
              <a:lnSpc>
                <a:spcPts val="6400"/>
              </a:lnSpc>
            </a:pPr>
            <a:r>
              <a:rPr lang="en-US" sz="3200" b="1" spc="147">
                <a:solidFill>
                  <a:srgbClr val="FFFFFF"/>
                </a:solidFill>
                <a:latin typeface="Montserrat Bold"/>
                <a:ea typeface="Montserrat Bold"/>
                <a:cs typeface="Montserrat Bold"/>
                <a:sym typeface="Montserrat Bold"/>
              </a:rPr>
              <a:t>2. Be vigilant: Be cautious when receiving unsolicited emails or requests for sensitive information.</a:t>
            </a:r>
          </a:p>
          <a:p>
            <a:pPr algn="l">
              <a:lnSpc>
                <a:spcPts val="6400"/>
              </a:lnSpc>
            </a:pPr>
            <a:endParaRPr lang="en-US" sz="3200" b="1" spc="147">
              <a:solidFill>
                <a:srgbClr val="FFFFFF"/>
              </a:solidFill>
              <a:latin typeface="Montserrat Bold"/>
              <a:ea typeface="Montserrat Bold"/>
              <a:cs typeface="Montserrat Bold"/>
              <a:sym typeface="Montserrat Bold"/>
            </a:endParaRPr>
          </a:p>
          <a:p>
            <a:pPr algn="l">
              <a:lnSpc>
                <a:spcPts val="6400"/>
              </a:lnSpc>
            </a:pPr>
            <a:endParaRPr lang="en-US" sz="3200" b="1" spc="147">
              <a:solidFill>
                <a:srgbClr val="FFFFFF"/>
              </a:solidFill>
              <a:latin typeface="Montserrat Bold"/>
              <a:ea typeface="Montserrat Bold"/>
              <a:cs typeface="Montserrat Bold"/>
              <a:sym typeface="Montserrat Bo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490028" y="781050"/>
            <a:ext cx="16230600" cy="6399530"/>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3. Use technology: Utilize technology, such as email filtering and antivirus software, to help prevent phishing attacks.</a:t>
            </a:r>
          </a:p>
          <a:p>
            <a:pPr algn="l">
              <a:lnSpc>
                <a:spcPts val="6400"/>
              </a:lnSpc>
            </a:pPr>
            <a:r>
              <a:rPr lang="en-US" sz="3200" b="1" spc="147">
                <a:solidFill>
                  <a:srgbClr val="FFFFFF"/>
                </a:solidFill>
                <a:latin typeface="Montserrat Bold"/>
                <a:ea typeface="Montserrat Bold"/>
                <a:cs typeface="Montserrat Bold"/>
                <a:sym typeface="Montserrat Bold"/>
              </a:rPr>
              <a:t>4. Report incidents: Report phishing incidents to the relevant authorities.</a:t>
            </a:r>
          </a:p>
          <a:p>
            <a:pPr algn="l">
              <a:lnSpc>
                <a:spcPts val="6400"/>
              </a:lnSpc>
            </a:pPr>
            <a:endParaRPr lang="en-US" sz="3200" b="1" spc="147">
              <a:solidFill>
                <a:srgbClr val="FFFFFF"/>
              </a:solidFill>
              <a:latin typeface="Montserrat Bold"/>
              <a:ea typeface="Montserrat Bold"/>
              <a:cs typeface="Montserrat Bold"/>
              <a:sym typeface="Montserrat Bold"/>
            </a:endParaRPr>
          </a:p>
          <a:p>
            <a:pPr algn="l">
              <a:lnSpc>
                <a:spcPts val="6400"/>
              </a:lnSpc>
            </a:pPr>
            <a:r>
              <a:rPr lang="en-US" sz="3200" b="1" spc="147">
                <a:solidFill>
                  <a:srgbClr val="FFFFFF"/>
                </a:solidFill>
                <a:latin typeface="Montserrat Bold"/>
                <a:ea typeface="Montserrat Bold"/>
                <a:cs typeface="Montserrat Bold"/>
                <a:sym typeface="Montserrat Bold"/>
              </a:rPr>
              <a:t>By applying these best practices, individuals and organizations can significantly reduce the risk of falling victim to phishing attacks.</a:t>
            </a:r>
          </a:p>
          <a:p>
            <a:pPr algn="l">
              <a:lnSpc>
                <a:spcPts val="6400"/>
              </a:lnSpc>
            </a:pPr>
            <a:endParaRPr lang="en-US" sz="3200" b="1" spc="147">
              <a:solidFill>
                <a:srgbClr val="FFFFFF"/>
              </a:solidFill>
              <a:latin typeface="Montserrat Bold"/>
              <a:ea typeface="Montserrat Bold"/>
              <a:cs typeface="Montserrat Bold"/>
              <a:sym typeface="Montserrat 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239520"/>
            <a:ext cx="16230600" cy="8018780"/>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Key Observations</a:t>
            </a:r>
          </a:p>
          <a:p>
            <a:pPr algn="l">
              <a:lnSpc>
                <a:spcPts val="6400"/>
              </a:lnSpc>
            </a:pPr>
            <a:r>
              <a:rPr lang="en-US" sz="3200" b="1" spc="147">
                <a:solidFill>
                  <a:srgbClr val="FFFFFF"/>
                </a:solidFill>
                <a:latin typeface="Montserrat Bold"/>
                <a:ea typeface="Montserrat Bold"/>
                <a:cs typeface="Montserrat Bold"/>
                <a:sym typeface="Montserrat Bold"/>
              </a:rPr>
              <a:t>As we navigate the complex landscape of phishing attacks, several key observations emerge:</a:t>
            </a:r>
          </a:p>
          <a:p>
            <a:pPr algn="l">
              <a:lnSpc>
                <a:spcPts val="6400"/>
              </a:lnSpc>
            </a:pPr>
            <a:r>
              <a:rPr lang="en-US" sz="3200" b="1" spc="147">
                <a:solidFill>
                  <a:srgbClr val="FFFFFF"/>
                </a:solidFill>
                <a:latin typeface="Montserrat Bold"/>
                <a:ea typeface="Montserrat Bold"/>
                <a:cs typeface="Montserrat Bold"/>
                <a:sym typeface="Montserrat Bold"/>
              </a:rPr>
              <a:t>1. Phishing attacks are becoming more sophisticated: Attackers are continually evolving their tactics, making it increasingly challenging to detect and prevent phishing attacks.</a:t>
            </a:r>
          </a:p>
          <a:p>
            <a:pPr algn="l">
              <a:lnSpc>
                <a:spcPts val="6400"/>
              </a:lnSpc>
            </a:pPr>
            <a:endParaRPr lang="en-US" sz="3200" b="1" spc="147">
              <a:solidFill>
                <a:srgbClr val="FFFFFF"/>
              </a:solidFill>
              <a:latin typeface="Montserrat Bold"/>
              <a:ea typeface="Montserrat Bold"/>
              <a:cs typeface="Montserrat Bold"/>
              <a:sym typeface="Montserrat Bold"/>
            </a:endParaRPr>
          </a:p>
          <a:p>
            <a:pPr algn="l">
              <a:lnSpc>
                <a:spcPts val="6400"/>
              </a:lnSpc>
            </a:pPr>
            <a:r>
              <a:rPr lang="en-US" sz="3200" b="1" spc="147">
                <a:solidFill>
                  <a:srgbClr val="FFFFFF"/>
                </a:solidFill>
                <a:latin typeface="Montserrat Bold"/>
                <a:ea typeface="Montserrat Bold"/>
                <a:cs typeface="Montserrat Bold"/>
                <a:sym typeface="Montserrat Bold"/>
              </a:rPr>
              <a:t>2. Human psychology plays a significant role: Phishing attacks often exploit human emotions, such as fear, greed, and curiosity, to trick individuals into revealing sensitive information.</a:t>
            </a:r>
          </a:p>
        </p:txBody>
      </p:sp>
      <p:sp>
        <p:nvSpPr>
          <p:cNvPr id="3" name="TextBox 3"/>
          <p:cNvSpPr txBox="1"/>
          <p:nvPr/>
        </p:nvSpPr>
        <p:spPr>
          <a:xfrm>
            <a:off x="1847773" y="41465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KEY OBSERVATIONS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420090" y="615950"/>
            <a:ext cx="16230600" cy="8778875"/>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3. Employee education is crucial: Educating employees on phishing awareness and prevention is essential in preventing phishing attacks in the workplace.</a:t>
            </a:r>
          </a:p>
          <a:p>
            <a:pPr algn="l">
              <a:lnSpc>
                <a:spcPts val="7000"/>
              </a:lnSpc>
            </a:pPr>
            <a:r>
              <a:rPr lang="en-US" sz="3500" b="1" spc="161">
                <a:solidFill>
                  <a:srgbClr val="FFFFFF"/>
                </a:solidFill>
                <a:latin typeface="Montserrat Bold"/>
                <a:ea typeface="Montserrat Bold"/>
                <a:cs typeface="Montserrat Bold"/>
                <a:sym typeface="Montserrat Bold"/>
              </a:rPr>
              <a:t>4. Technology alone is not enough: While technology, such as email filtering and antivirus software, can help prevent phishing attacks, it is not a foolproof solution.</a:t>
            </a:r>
          </a:p>
          <a:p>
            <a:pPr algn="l">
              <a:lnSpc>
                <a:spcPts val="7000"/>
              </a:lnSpc>
            </a:pPr>
            <a:r>
              <a:rPr lang="en-US" sz="3500" b="1" spc="161">
                <a:solidFill>
                  <a:srgbClr val="FFFFFF"/>
                </a:solidFill>
                <a:latin typeface="Montserrat Bold"/>
                <a:ea typeface="Montserrat Bold"/>
                <a:cs typeface="Montserrat Bold"/>
                <a:sym typeface="Montserrat Bold"/>
              </a:rPr>
              <a:t>5. Vigilance is key: Staying vigilant and being cautious when receiving unsolicited emails or requests for sensitive information is critical in preventing phishing attacks.</a:t>
            </a:r>
          </a:p>
          <a:p>
            <a:pPr algn="l">
              <a:lnSpc>
                <a:spcPts val="7000"/>
              </a:lnSpc>
            </a:pPr>
            <a:endParaRPr lang="en-US" sz="3500" b="1" spc="161">
              <a:solidFill>
                <a:srgbClr val="FFFFFF"/>
              </a:solidFill>
              <a:latin typeface="Montserrat Bold"/>
              <a:ea typeface="Montserrat Bold"/>
              <a:cs typeface="Montserrat Bold"/>
              <a:sym typeface="Montserrat Bo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436346"/>
            <a:ext cx="16230600" cy="6399530"/>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6. Phishing attacks can have severe consequences: Phishing attacks can result in significant financial losses, reputational damage, and compromised security.</a:t>
            </a:r>
          </a:p>
          <a:p>
            <a:pPr algn="l">
              <a:lnSpc>
                <a:spcPts val="6400"/>
              </a:lnSpc>
            </a:pPr>
            <a:endParaRPr lang="en-US" sz="3200" b="1" spc="147">
              <a:solidFill>
                <a:srgbClr val="FFFFFF"/>
              </a:solidFill>
              <a:latin typeface="Montserrat Bold"/>
              <a:ea typeface="Montserrat Bold"/>
              <a:cs typeface="Montserrat Bold"/>
              <a:sym typeface="Montserrat Bold"/>
            </a:endParaRPr>
          </a:p>
          <a:p>
            <a:pPr algn="l">
              <a:lnSpc>
                <a:spcPts val="6400"/>
              </a:lnSpc>
            </a:pPr>
            <a:r>
              <a:rPr lang="en-US" sz="3200" b="1" spc="147">
                <a:solidFill>
                  <a:srgbClr val="FFFFFF"/>
                </a:solidFill>
                <a:latin typeface="Montserrat Bold"/>
                <a:ea typeface="Montserrat Bold"/>
                <a:cs typeface="Montserrat Bold"/>
                <a:sym typeface="Montserrat Bold"/>
              </a:rPr>
              <a:t>By understanding these key observations, individuals and organizations can take proactive steps to prevent phishing attacks and protect themselves against these threats.</a:t>
            </a:r>
          </a:p>
          <a:p>
            <a:pPr algn="l">
              <a:lnSpc>
                <a:spcPts val="6400"/>
              </a:lnSpc>
            </a:pPr>
            <a:endParaRPr lang="en-US" sz="3200" b="1" spc="147">
              <a:solidFill>
                <a:srgbClr val="FFFFFF"/>
              </a:solidFill>
              <a:latin typeface="Montserrat Bold"/>
              <a:ea typeface="Montserrat Bold"/>
              <a:cs typeface="Montserrat Bold"/>
              <a:sym typeface="Montserrat Bo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374774"/>
            <a:ext cx="16647397" cy="7883526"/>
          </a:xfrm>
          <a:prstGeom prst="rect">
            <a:avLst/>
          </a:prstGeom>
        </p:spPr>
        <p:txBody>
          <a:bodyPr lIns="0" tIns="0" rIns="0" bIns="0" rtlCol="0" anchor="t">
            <a:spAutoFit/>
          </a:bodyPr>
          <a:lstStyle/>
          <a:p>
            <a:pPr algn="l">
              <a:lnSpc>
                <a:spcPts val="6999"/>
              </a:lnSpc>
            </a:pPr>
            <a:r>
              <a:rPr lang="en-US" sz="3499" b="1" spc="160">
                <a:solidFill>
                  <a:srgbClr val="FFFFFF"/>
                </a:solidFill>
                <a:latin typeface="Montserrat Bold"/>
                <a:ea typeface="Montserrat Bold"/>
                <a:cs typeface="Montserrat Bold"/>
                <a:sym typeface="Montserrat Bold"/>
              </a:rPr>
              <a:t>Real-World Examples of Phishing and Facebook Phishing Scam (2013-2015): A Lithuanian man, Evaldas Rimasauskas, sent phishing emails to employees of Google and Facebook, impersonating a Taiwanese hardware manufacturer. The attackers successfully tricked the companies into transferring over $100 million in funds to their bank accounts.</a:t>
            </a:r>
          </a:p>
          <a:p>
            <a:pPr algn="l">
              <a:lnSpc>
                <a:spcPts val="6999"/>
              </a:lnSpc>
            </a:pPr>
            <a:endParaRPr lang="en-US" sz="3499" b="1" spc="160">
              <a:solidFill>
                <a:srgbClr val="FFFFFF"/>
              </a:solidFill>
              <a:latin typeface="Montserrat Bold"/>
              <a:ea typeface="Montserrat Bold"/>
              <a:cs typeface="Montserrat Bold"/>
              <a:sym typeface="Montserrat Bold"/>
            </a:endParaRPr>
          </a:p>
          <a:p>
            <a:pPr algn="l">
              <a:lnSpc>
                <a:spcPts val="6999"/>
              </a:lnSpc>
            </a:pPr>
            <a:r>
              <a:rPr lang="en-US" sz="3499" b="1" spc="160">
                <a:solidFill>
                  <a:srgbClr val="FFFFFF"/>
                </a:solidFill>
                <a:latin typeface="Montserrat Bold"/>
                <a:ea typeface="Montserrat Bold"/>
                <a:cs typeface="Montserrat Bold"/>
                <a:sym typeface="Montserrat Bold"/>
              </a:rPr>
              <a:t>2. Uber Phishing Attack (2016): Hackers breached Uber's network by phishing an employee's credentials. </a:t>
            </a:r>
          </a:p>
        </p:txBody>
      </p:sp>
      <p:sp>
        <p:nvSpPr>
          <p:cNvPr id="3" name="TextBox 3"/>
          <p:cNvSpPr txBox="1"/>
          <p:nvPr/>
        </p:nvSpPr>
        <p:spPr>
          <a:xfrm>
            <a:off x="3482606" y="41465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EXAMPLES AND CASE STUDIES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73037"/>
            <a:ext cx="16230600" cy="9664700"/>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The attackers accessed sensitive information, including names, email addresses, and phone numbers of 57 million Uber users and drivers3. CNA Insurance Phishing Attack (2021): CNA Insurance paid a $40 million ransom after a phishing attack compromised their systems. The attackers used phishing emails to gain access to the company's network and deploy ransomware.</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r>
              <a:rPr lang="en-US" sz="3500" b="1" spc="161">
                <a:solidFill>
                  <a:srgbClr val="FFFFFF"/>
                </a:solidFill>
                <a:latin typeface="Montserrat Bold"/>
                <a:ea typeface="Montserrat Bold"/>
                <a:cs typeface="Montserrat Bold"/>
                <a:sym typeface="Montserrat Bold"/>
              </a:rPr>
              <a:t>Analysis of Successful Phishing Attacks</a:t>
            </a:r>
          </a:p>
          <a:p>
            <a:pPr algn="l">
              <a:lnSpc>
                <a:spcPts val="7000"/>
              </a:lnSpc>
            </a:pPr>
            <a:r>
              <a:rPr lang="en-US" sz="3500" b="1" spc="161">
                <a:solidFill>
                  <a:srgbClr val="FFFFFF"/>
                </a:solidFill>
                <a:latin typeface="Montserrat Bold"/>
                <a:ea typeface="Montserrat Bold"/>
                <a:cs typeface="Montserrat Bold"/>
                <a:sym typeface="Montserrat Bold"/>
              </a:rPr>
              <a:t>Successful phishing attacks often exploit human psychology and rely on social engineering tactics. Attackers may use: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429895"/>
            <a:ext cx="16230600" cy="8828405"/>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1. Spear phishing: Targeted phishing attacks that use personalized information to build trust with the victim.2. Urgency: Creating a sense of urgency to prompt the victim into taking action without thinking critically.</a:t>
            </a:r>
          </a:p>
          <a:p>
            <a:pPr algn="l">
              <a:lnSpc>
                <a:spcPts val="6400"/>
              </a:lnSpc>
            </a:pPr>
            <a:r>
              <a:rPr lang="en-US" sz="3200" b="1" spc="147">
                <a:solidFill>
                  <a:srgbClr val="FFFFFF"/>
                </a:solidFill>
                <a:latin typeface="Montserrat Bold"/>
                <a:ea typeface="Montserrat Bold"/>
                <a:cs typeface="Montserrat Bold"/>
                <a:sym typeface="Montserrat Bold"/>
              </a:rPr>
              <a:t>3. Authority: Impersonating someone in authority to gain trust and compliance.</a:t>
            </a:r>
          </a:p>
          <a:p>
            <a:pPr algn="l">
              <a:lnSpc>
                <a:spcPts val="6400"/>
              </a:lnSpc>
            </a:pPr>
            <a:endParaRPr lang="en-US" sz="3200" b="1" spc="147">
              <a:solidFill>
                <a:srgbClr val="FFFFFF"/>
              </a:solidFill>
              <a:latin typeface="Montserrat Bold"/>
              <a:ea typeface="Montserrat Bold"/>
              <a:cs typeface="Montserrat Bold"/>
              <a:sym typeface="Montserrat Bold"/>
            </a:endParaRPr>
          </a:p>
          <a:p>
            <a:pPr algn="l">
              <a:lnSpc>
                <a:spcPts val="6400"/>
              </a:lnSpc>
            </a:pPr>
            <a:r>
              <a:rPr lang="en-US" sz="3200" b="1" spc="147">
                <a:solidFill>
                  <a:srgbClr val="FFFFFF"/>
                </a:solidFill>
                <a:latin typeface="Montserrat Bold"/>
                <a:ea typeface="Montserrat Bold"/>
                <a:cs typeface="Montserrat Bold"/>
                <a:sym typeface="Montserrat Bold"/>
              </a:rPr>
              <a:t>Lessons Learned</a:t>
            </a:r>
          </a:p>
          <a:p>
            <a:pPr algn="l">
              <a:lnSpc>
                <a:spcPts val="6400"/>
              </a:lnSpc>
            </a:pPr>
            <a:r>
              <a:rPr lang="en-US" sz="3200" b="1" spc="147">
                <a:solidFill>
                  <a:srgbClr val="FFFFFF"/>
                </a:solidFill>
                <a:latin typeface="Montserrat Bold"/>
                <a:ea typeface="Montserrat Bold"/>
                <a:cs typeface="Montserrat Bold"/>
                <a:sym typeface="Montserrat Bold"/>
              </a:rPr>
              <a:t>1. Employee education: Educating employees on phishing awareness and prevention is crucial in preventing phishing attacks.</a:t>
            </a:r>
          </a:p>
          <a:p>
            <a:pPr algn="l">
              <a:lnSpc>
                <a:spcPts val="6400"/>
              </a:lnSpc>
            </a:pPr>
            <a:endParaRPr lang="en-US" sz="3200" b="1" spc="147">
              <a:solidFill>
                <a:srgbClr val="FFFFFF"/>
              </a:solidFill>
              <a:latin typeface="Montserrat Bold"/>
              <a:ea typeface="Montserrat Bold"/>
              <a:cs typeface="Montserrat Bold"/>
              <a:sym typeface="Montserrat Bo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73037"/>
            <a:ext cx="16230600" cy="9664700"/>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2. Multi-factor authentication: Implementing multi-factor authentication can help prevent phishing attacks from compromising sensitive information.</a:t>
            </a:r>
          </a:p>
          <a:p>
            <a:pPr algn="l">
              <a:lnSpc>
                <a:spcPts val="7000"/>
              </a:lnSpc>
            </a:pPr>
            <a:r>
              <a:rPr lang="en-US" sz="3500" b="1" spc="161">
                <a:solidFill>
                  <a:srgbClr val="FFFFFF"/>
                </a:solidFill>
                <a:latin typeface="Montserrat Bold"/>
                <a:ea typeface="Montserrat Bold"/>
                <a:cs typeface="Montserrat Bold"/>
                <a:sym typeface="Montserrat Bold"/>
              </a:rPr>
              <a:t>3. Incident response: Having an incident response plan in place can help minimize the damage caused by a phishing attack.</a:t>
            </a:r>
          </a:p>
          <a:p>
            <a:pPr algn="l">
              <a:lnSpc>
                <a:spcPts val="7000"/>
              </a:lnSpc>
            </a:pPr>
            <a:endParaRPr lang="en-US" sz="3500" b="1" spc="161">
              <a:solidFill>
                <a:srgbClr val="FFFFFF"/>
              </a:solidFill>
              <a:latin typeface="Montserrat Bold"/>
              <a:ea typeface="Montserrat Bold"/>
              <a:cs typeface="Montserrat Bold"/>
              <a:sym typeface="Montserrat Bold"/>
            </a:endParaRPr>
          </a:p>
          <a:p>
            <a:pPr algn="l">
              <a:lnSpc>
                <a:spcPts val="7000"/>
              </a:lnSpc>
            </a:pPr>
            <a:r>
              <a:rPr lang="en-US" sz="3500" b="1" spc="161">
                <a:solidFill>
                  <a:srgbClr val="FFFFFF"/>
                </a:solidFill>
                <a:latin typeface="Montserrat Bold"/>
                <a:ea typeface="Montserrat Bold"/>
                <a:cs typeface="Montserrat Bold"/>
                <a:sym typeface="Montserrat Bold"/>
              </a:rPr>
              <a:t>Examples of Effective Phishing Awareness Training Programs</a:t>
            </a:r>
          </a:p>
          <a:p>
            <a:pPr algn="l">
              <a:lnSpc>
                <a:spcPts val="7000"/>
              </a:lnSpc>
            </a:pPr>
            <a:r>
              <a:rPr lang="en-US" sz="3500" b="1" spc="161">
                <a:solidFill>
                  <a:srgbClr val="FFFFFF"/>
                </a:solidFill>
                <a:latin typeface="Montserrat Bold"/>
                <a:ea typeface="Montserrat Bold"/>
                <a:cs typeface="Montserrat Bold"/>
                <a:sym typeface="Montserrat Bold"/>
              </a:rPr>
              <a:t>1. Phishing simulation: Conducting phishing simulations to test employees' awareness and preparedness.</a:t>
            </a:r>
          </a:p>
          <a:p>
            <a:pPr algn="l">
              <a:lnSpc>
                <a:spcPts val="7000"/>
              </a:lnSpc>
            </a:pPr>
            <a:r>
              <a:rPr lang="en-US" sz="3500" b="1" spc="161">
                <a:solidFill>
                  <a:srgbClr val="FFFFFF"/>
                </a:solidFill>
                <a:latin typeface="Montserrat Bold"/>
                <a:ea typeface="Montserrat Bold"/>
                <a:cs typeface="Montserrat Bold"/>
                <a:sym typeface="Montserrat Bold"/>
              </a:rPr>
              <a:t>2. Regular training sessions: Providing regular training sessions on phishing awareness and prevention.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781050"/>
            <a:ext cx="16230600" cy="8018780"/>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3. Interactive training: Using interactive training methods, such as videos and quizzes, to engage employees and improve their understanding of phishing attacks.</a:t>
            </a:r>
          </a:p>
          <a:p>
            <a:pPr algn="l">
              <a:lnSpc>
                <a:spcPts val="6400"/>
              </a:lnSpc>
            </a:pPr>
            <a:r>
              <a:rPr lang="en-US" sz="3200" b="1" spc="147">
                <a:solidFill>
                  <a:srgbClr val="FFFFFF"/>
                </a:solidFill>
                <a:latin typeface="Montserrat Bold"/>
                <a:ea typeface="Montserrat Bold"/>
                <a:cs typeface="Montserrat Bold"/>
                <a:sym typeface="Montserrat Bold"/>
              </a:rPr>
              <a:t>4. Reporting mechanisms: Establishing reporting mechanisms for employees to report suspicious emails or activity.</a:t>
            </a:r>
          </a:p>
          <a:p>
            <a:pPr algn="l">
              <a:lnSpc>
                <a:spcPts val="6400"/>
              </a:lnSpc>
            </a:pPr>
            <a:endParaRPr lang="en-US" sz="3200" b="1" spc="147">
              <a:solidFill>
                <a:srgbClr val="FFFFFF"/>
              </a:solidFill>
              <a:latin typeface="Montserrat Bold"/>
              <a:ea typeface="Montserrat Bold"/>
              <a:cs typeface="Montserrat Bold"/>
              <a:sym typeface="Montserrat Bold"/>
            </a:endParaRPr>
          </a:p>
          <a:p>
            <a:pPr algn="l">
              <a:lnSpc>
                <a:spcPts val="6400"/>
              </a:lnSpc>
            </a:pPr>
            <a:r>
              <a:rPr lang="en-US" sz="3200" b="1" spc="147">
                <a:solidFill>
                  <a:srgbClr val="FFFFFF"/>
                </a:solidFill>
                <a:latin typeface="Montserrat Bold"/>
                <a:ea typeface="Montserrat Bold"/>
                <a:cs typeface="Montserrat Bold"/>
                <a:sym typeface="Montserrat Bold"/>
              </a:rPr>
              <a:t>Effective phishing awareness training programs can help reduce the risk of phishing attacks by educating employees on how to identify and report suspicious activity.</a:t>
            </a:r>
          </a:p>
          <a:p>
            <a:pPr algn="l">
              <a:lnSpc>
                <a:spcPts val="6400"/>
              </a:lnSpc>
            </a:pPr>
            <a:endParaRPr lang="en-US" sz="3200" b="1" spc="147">
              <a:solidFill>
                <a:srgbClr val="FFFFFF"/>
              </a:solidFill>
              <a:latin typeface="Montserrat Bold"/>
              <a:ea typeface="Montserrat Bold"/>
              <a:cs typeface="Montserrat Bold"/>
              <a:sym typeface="Montserrat Bo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9388" y="1239520"/>
            <a:ext cx="16230600" cy="8018780"/>
          </a:xfrm>
          <a:prstGeom prst="rect">
            <a:avLst/>
          </a:prstGeom>
        </p:spPr>
        <p:txBody>
          <a:bodyPr lIns="0" tIns="0" rIns="0" bIns="0" rtlCol="0" anchor="t">
            <a:spAutoFit/>
          </a:bodyPr>
          <a:lstStyle/>
          <a:p>
            <a:pPr algn="l">
              <a:lnSpc>
                <a:spcPts val="6400"/>
              </a:lnSpc>
            </a:pPr>
            <a:r>
              <a:rPr lang="en-US" sz="3200" b="1" spc="147">
                <a:solidFill>
                  <a:srgbClr val="FFFFFF"/>
                </a:solidFill>
                <a:latin typeface="Montserrat Bold"/>
                <a:ea typeface="Montserrat Bold"/>
                <a:cs typeface="Montserrat Bold"/>
                <a:sym typeface="Montserrat Bold"/>
              </a:rPr>
              <a:t>Recommendations for Enhancing Phishing Defense</a:t>
            </a:r>
          </a:p>
          <a:p>
            <a:pPr algn="l">
              <a:lnSpc>
                <a:spcPts val="6400"/>
              </a:lnSpc>
            </a:pPr>
            <a:r>
              <a:rPr lang="en-US" sz="3200" b="1" spc="147">
                <a:solidFill>
                  <a:srgbClr val="FFFFFF"/>
                </a:solidFill>
                <a:latin typeface="Montserrat Bold"/>
                <a:ea typeface="Montserrat Bold"/>
                <a:cs typeface="Montserrat Bold"/>
                <a:sym typeface="Montserrat Bold"/>
              </a:rPr>
              <a:t>To protect against phishing attacks, organizations should consider the following recommendations:</a:t>
            </a:r>
          </a:p>
          <a:p>
            <a:pPr algn="l">
              <a:lnSpc>
                <a:spcPts val="6400"/>
              </a:lnSpc>
            </a:pPr>
            <a:r>
              <a:rPr lang="en-US" sz="3200" b="1" spc="147">
                <a:solidFill>
                  <a:srgbClr val="FFFFFF"/>
                </a:solidFill>
                <a:latin typeface="Montserrat Bold"/>
                <a:ea typeface="Montserrat Bold"/>
                <a:cs typeface="Montserrat Bold"/>
                <a:sym typeface="Montserrat Bold"/>
              </a:rPr>
              <a:t> 1. Conduct Regular Phishing Awareness Training</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Provide regular training sessions for employees on phishing awareness and prevention.</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Use interactive training methods, such as simulations and quizzes, to engage employees and improve their understanding of phishing attacks.</a:t>
            </a:r>
          </a:p>
          <a:p>
            <a:pPr marL="690881" lvl="1" indent="-345440" algn="l">
              <a:lnSpc>
                <a:spcPts val="6400"/>
              </a:lnSpc>
              <a:buFont typeface="Arial"/>
              <a:buChar char="•"/>
            </a:pPr>
            <a:r>
              <a:rPr lang="en-US" sz="3200" b="1" spc="147">
                <a:solidFill>
                  <a:srgbClr val="FFFFFF"/>
                </a:solidFill>
                <a:latin typeface="Montserrat Bold"/>
                <a:ea typeface="Montserrat Bold"/>
                <a:cs typeface="Montserrat Bold"/>
                <a:sym typeface="Montserrat Bold"/>
              </a:rPr>
              <a:t>Encourage employees to report suspicious emails or activity.</a:t>
            </a:r>
          </a:p>
        </p:txBody>
      </p:sp>
      <p:sp>
        <p:nvSpPr>
          <p:cNvPr id="3" name="TextBox 3"/>
          <p:cNvSpPr txBox="1"/>
          <p:nvPr/>
        </p:nvSpPr>
        <p:spPr>
          <a:xfrm>
            <a:off x="5699336" y="41465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RECOMMENDATIONS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331835"/>
            <a:ext cx="16230600" cy="10550525"/>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2. Implement Robust Security Measures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Install and regularly update firewalls, antivirus software, and intrusion detection systems to prevent phishing attacks.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Use email filtering systems to block suspicious emails and attachments.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Implement multi-factor authentication to add an extra layer of security.</a:t>
            </a:r>
          </a:p>
          <a:p>
            <a:pPr algn="l">
              <a:lnSpc>
                <a:spcPts val="7000"/>
              </a:lnSpc>
            </a:pPr>
            <a:r>
              <a:rPr lang="en-US" sz="3500" b="1" spc="161">
                <a:solidFill>
                  <a:srgbClr val="FFFFFF"/>
                </a:solidFill>
                <a:latin typeface="Montserrat Bold"/>
                <a:ea typeface="Montserrat Bold"/>
                <a:cs typeface="Montserrat Bold"/>
                <a:sym typeface="Montserrat Bold"/>
              </a:rPr>
              <a:t>3. Encourage a Culture of Security Awareness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Foster a culture of security awareness within the organization by promoting best practices and encouraging employees to take ownership of security.</a:t>
            </a:r>
          </a:p>
          <a:p>
            <a:pPr algn="l">
              <a:lnSpc>
                <a:spcPts val="7000"/>
              </a:lnSpc>
            </a:pPr>
            <a:endParaRPr lang="en-US" sz="3500" b="1" spc="161">
              <a:solidFill>
                <a:srgbClr val="FFFFFF"/>
              </a:solidFill>
              <a:latin typeface="Montserrat Bold"/>
              <a:ea typeface="Montserrat Bold"/>
              <a:cs typeface="Montserrat Bold"/>
              <a:sym typeface="Montserrat Bo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479425"/>
            <a:ext cx="16230600" cy="8778875"/>
          </a:xfrm>
          <a:prstGeom prst="rect">
            <a:avLst/>
          </a:prstGeom>
        </p:spPr>
        <p:txBody>
          <a:bodyPr lIns="0" tIns="0" rIns="0" bIns="0" rtlCol="0" anchor="t">
            <a:spAutoFit/>
          </a:bodyPr>
          <a:lstStyle/>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Encourage employees to report security incidents and near-misses.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Recognize and reward employees who demonstrate good security practices.</a:t>
            </a:r>
          </a:p>
          <a:p>
            <a:pPr algn="l">
              <a:lnSpc>
                <a:spcPts val="7000"/>
              </a:lnSpc>
            </a:pPr>
            <a:r>
              <a:rPr lang="en-US" sz="3500" b="1" spc="161">
                <a:solidFill>
                  <a:srgbClr val="FFFFFF"/>
                </a:solidFill>
                <a:latin typeface="Montserrat Bold"/>
                <a:ea typeface="Montserrat Bold"/>
                <a:cs typeface="Montserrat Bold"/>
                <a:sym typeface="Montserrat Bold"/>
              </a:rPr>
              <a:t> 4. Monitor and Update Security Systems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Regularly monitor security systems and update them as needed to stay ahead of emerging threats.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Conduct regular security audits to identify vulnerabilities and address them.</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Stay informed about the latest phishing tactics and trends.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752475"/>
            <a:ext cx="16230600" cy="7893050"/>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 5. Develop an Incident Response Plan</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Develop an incident response plan to quickly respond to phishing attacks and minimize damage.</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Identify key stakeholders and their roles in responding to phishing attacks.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Regularly test and update the incident response plan.</a:t>
            </a:r>
          </a:p>
          <a:p>
            <a:pPr algn="l">
              <a:lnSpc>
                <a:spcPts val="7000"/>
              </a:lnSpc>
            </a:pPr>
            <a:r>
              <a:rPr lang="en-US" sz="3500" b="1" spc="161">
                <a:solidFill>
                  <a:srgbClr val="FFFFFF"/>
                </a:solidFill>
                <a:latin typeface="Montserrat Bold"/>
                <a:ea typeface="Montserrat Bold"/>
                <a:cs typeface="Montserrat Bold"/>
                <a:sym typeface="Montserrat Bold"/>
              </a:rPr>
              <a:t>By implementing these recommendations, organizations can significantly reduce the risk of phishing attacks and protect their sensitive information.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2251075"/>
            <a:ext cx="16230600" cy="7007225"/>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Phishing awareness is essential for protecting individuals and organizations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Regular training and education can help prevent phishing attacks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Stay vigilant and report suspicious activity</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Articles and blogs on phishing awareness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Online training courses and webinars</a:t>
            </a:r>
          </a:p>
          <a:p>
            <a:pPr algn="l">
              <a:lnSpc>
                <a:spcPts val="7000"/>
              </a:lnSpc>
            </a:pPr>
            <a:r>
              <a:rPr lang="en-US" sz="3500" b="1" spc="161">
                <a:solidFill>
                  <a:srgbClr val="FFFFFF"/>
                </a:solidFill>
                <a:latin typeface="Montserrat Bold"/>
                <a:ea typeface="Montserrat Bold"/>
                <a:cs typeface="Montserrat Bold"/>
                <a:sym typeface="Montserrat Bold"/>
              </a:rPr>
              <a:t>   - Security software and tools</a:t>
            </a:r>
          </a:p>
        </p:txBody>
      </p:sp>
      <p:sp>
        <p:nvSpPr>
          <p:cNvPr id="3" name="TextBox 3"/>
          <p:cNvSpPr txBox="1"/>
          <p:nvPr/>
        </p:nvSpPr>
        <p:spPr>
          <a:xfrm>
            <a:off x="5699336" y="41465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CONCLUSION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752475"/>
            <a:ext cx="16230600" cy="8778875"/>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Additional Ideas:</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Include interactive elements, such as quizzes, games, or simulations, to engage participants and reinforce learning.</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Use images, videos, and real-world examples to illustrate key concepts and make the training more relatable.</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Provide a comprehensive guide or handbook for participants to reference after the training.</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Consider offering a certification or badge for participants who complete the training and demonstrate their knowledge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2387600"/>
            <a:ext cx="16230600" cy="5235575"/>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This report documents the forensic analysis of an android mobile device image to extract potential digital  evidence. The objective was to retrieve and analyse user activity, information communication records,  application usage, files and any deleted content to asses the state of the device and provide actionable conclusions.</a:t>
            </a:r>
          </a:p>
        </p:txBody>
      </p:sp>
      <p:sp>
        <p:nvSpPr>
          <p:cNvPr id="3" name="TextBox 3"/>
          <p:cNvSpPr txBox="1"/>
          <p:nvPr/>
        </p:nvSpPr>
        <p:spPr>
          <a:xfrm>
            <a:off x="2873009" y="71691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ANDROID FORENSICS INVESTIGATION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426349" y="1762898"/>
            <a:ext cx="16230600" cy="7893050"/>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The forensic process followed the structured approach:</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Acquisition: The android image was provided for this report</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Examination: Autopsy was used to parse the file system, extract data and identify artifacts if interest.</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Analysis: Extracted data was interpreted to reveal insights  into the user's behaviour, call logs, SMS, App usage and stored media.</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Documentations: Screenshots and structured evidence were compiled to support the findings. </a:t>
            </a:r>
          </a:p>
        </p:txBody>
      </p:sp>
      <p:sp>
        <p:nvSpPr>
          <p:cNvPr id="3" name="TextBox 3"/>
          <p:cNvSpPr txBox="1"/>
          <p:nvPr/>
        </p:nvSpPr>
        <p:spPr>
          <a:xfrm>
            <a:off x="5456728" y="71691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METHODOLOGY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41446" y="71691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FINDINGS </a:t>
            </a:r>
          </a:p>
        </p:txBody>
      </p:sp>
      <p:sp>
        <p:nvSpPr>
          <p:cNvPr id="3" name="TextBox 3"/>
          <p:cNvSpPr txBox="1"/>
          <p:nvPr/>
        </p:nvSpPr>
        <p:spPr>
          <a:xfrm>
            <a:off x="1694588" y="3731403"/>
            <a:ext cx="16230600" cy="3463925"/>
          </a:xfrm>
          <a:prstGeom prst="rect">
            <a:avLst/>
          </a:prstGeom>
        </p:spPr>
        <p:txBody>
          <a:bodyPr lIns="0" tIns="0" rIns="0" bIns="0" rtlCol="0" anchor="t">
            <a:spAutoFit/>
          </a:bodyPr>
          <a:lstStyle/>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Call logs</a:t>
            </a:r>
          </a:p>
          <a:p>
            <a:pPr algn="l">
              <a:lnSpc>
                <a:spcPts val="7000"/>
              </a:lnSpc>
            </a:pPr>
            <a:r>
              <a:rPr lang="en-US" sz="3500" b="1" spc="161">
                <a:solidFill>
                  <a:srgbClr val="FFFFFF"/>
                </a:solidFill>
                <a:latin typeface="Montserrat Bold"/>
                <a:ea typeface="Montserrat Bold"/>
                <a:cs typeface="Montserrat Bold"/>
                <a:sym typeface="Montserrat Bold"/>
              </a:rPr>
              <a:t>Tot call entries: 28</a:t>
            </a:r>
          </a:p>
          <a:p>
            <a:pPr algn="l">
              <a:lnSpc>
                <a:spcPts val="7000"/>
              </a:lnSpc>
            </a:pPr>
            <a:r>
              <a:rPr lang="en-US" sz="3500" b="1" spc="161">
                <a:solidFill>
                  <a:srgbClr val="FFFFFF"/>
                </a:solidFill>
                <a:latin typeface="Montserrat Bold"/>
                <a:ea typeface="Montserrat Bold"/>
                <a:cs typeface="Montserrat Bold"/>
                <a:sym typeface="Montserrat Bold"/>
              </a:rPr>
              <a:t>Top contacted number: 08032111669</a:t>
            </a:r>
          </a:p>
          <a:p>
            <a:pPr algn="l">
              <a:lnSpc>
                <a:spcPts val="7000"/>
              </a:lnSpc>
            </a:pPr>
            <a:r>
              <a:rPr lang="en-US" sz="3500" b="1" spc="161">
                <a:solidFill>
                  <a:srgbClr val="FFFFFF"/>
                </a:solidFill>
                <a:latin typeface="Montserrat Bold"/>
                <a:ea typeface="Montserrat Bold"/>
                <a:cs typeface="Montserrat Bold"/>
                <a:sym typeface="Montserrat Bold"/>
              </a:rPr>
              <a:t>Last call made: 2024-03-17. 16:36:28 PDT</a:t>
            </a:r>
          </a:p>
        </p:txBody>
      </p:sp>
      <p:sp>
        <p:nvSpPr>
          <p:cNvPr id="4" name="TextBox 4"/>
          <p:cNvSpPr txBox="1"/>
          <p:nvPr/>
        </p:nvSpPr>
        <p:spPr>
          <a:xfrm>
            <a:off x="2414498" y="2511218"/>
            <a:ext cx="16230600" cy="806450"/>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SMS MESSAGES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503365" y="2680991"/>
            <a:ext cx="16230600" cy="6121400"/>
          </a:xfrm>
          <a:prstGeom prst="rect">
            <a:avLst/>
          </a:prstGeom>
        </p:spPr>
        <p:txBody>
          <a:bodyPr lIns="0" tIns="0" rIns="0" bIns="0" rtlCol="0" anchor="t">
            <a:spAutoFit/>
          </a:bodyPr>
          <a:lstStyle/>
          <a:p>
            <a:pPr algn="l">
              <a:lnSpc>
                <a:spcPts val="7000"/>
              </a:lnSpc>
            </a:pPr>
            <a:r>
              <a:rPr lang="en-US" sz="3500" b="1" spc="161">
                <a:solidFill>
                  <a:srgbClr val="FFFFFF"/>
                </a:solidFill>
                <a:latin typeface="Montserrat Bold"/>
                <a:ea typeface="Montserrat Bold"/>
                <a:cs typeface="Montserrat Bold"/>
                <a:sym typeface="Montserrat Bold"/>
              </a:rPr>
              <a:t>There are no history of application usage but I have the following applications installed on the device:</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WhatsApp </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Wallet Trust - for Crypto</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Square up Cash</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YouTube and </a:t>
            </a: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Twitter </a:t>
            </a:r>
          </a:p>
        </p:txBody>
      </p:sp>
      <p:sp>
        <p:nvSpPr>
          <p:cNvPr id="3" name="TextBox 3"/>
          <p:cNvSpPr txBox="1"/>
          <p:nvPr/>
        </p:nvSpPr>
        <p:spPr>
          <a:xfrm>
            <a:off x="6641446" y="71691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APPLICATION USAGE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5976428" y="101917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FILES AND IMAGES </a:t>
            </a:r>
          </a:p>
        </p:txBody>
      </p:sp>
      <p:sp>
        <p:nvSpPr>
          <p:cNvPr id="3" name="TextBox 3"/>
          <p:cNvSpPr txBox="1"/>
          <p:nvPr/>
        </p:nvSpPr>
        <p:spPr>
          <a:xfrm>
            <a:off x="1028700" y="3191596"/>
            <a:ext cx="16230600" cy="4349750"/>
          </a:xfrm>
          <a:prstGeom prst="rect">
            <a:avLst/>
          </a:prstGeom>
        </p:spPr>
        <p:txBody>
          <a:bodyPr lIns="0" tIns="0" rIns="0" bIns="0" rtlCol="0" anchor="t">
            <a:spAutoFit/>
          </a:bodyPr>
          <a:lstStyle/>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Total  Images Found: 200</a:t>
            </a:r>
          </a:p>
          <a:p>
            <a:pPr algn="l">
              <a:lnSpc>
                <a:spcPts val="7000"/>
              </a:lnSpc>
            </a:pPr>
            <a:endParaRPr lang="en-US" sz="3500" b="1" spc="161">
              <a:solidFill>
                <a:srgbClr val="FFFFFF"/>
              </a:solidFill>
              <a:latin typeface="Montserrat Bold"/>
              <a:ea typeface="Montserrat Bold"/>
              <a:cs typeface="Montserrat Bold"/>
              <a:sym typeface="Montserrat Bold"/>
            </a:endParaRP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Recovered Deleted Image: 1</a:t>
            </a:r>
          </a:p>
          <a:p>
            <a:pPr algn="l">
              <a:lnSpc>
                <a:spcPts val="7000"/>
              </a:lnSpc>
            </a:pPr>
            <a:endParaRPr lang="en-US" sz="3500" b="1" spc="161">
              <a:solidFill>
                <a:srgbClr val="FFFFFF"/>
              </a:solidFill>
              <a:latin typeface="Montserrat Bold"/>
              <a:ea typeface="Montserrat Bold"/>
              <a:cs typeface="Montserrat Bold"/>
              <a:sym typeface="Montserrat Bold"/>
            </a:endParaRPr>
          </a:p>
          <a:p>
            <a:pPr marL="755651" lvl="1" indent="-377825" algn="l">
              <a:lnSpc>
                <a:spcPts val="7000"/>
              </a:lnSpc>
              <a:buFont typeface="Arial"/>
              <a:buChar char="•"/>
            </a:pPr>
            <a:r>
              <a:rPr lang="en-US" sz="3500" b="1" spc="161">
                <a:solidFill>
                  <a:srgbClr val="FFFFFF"/>
                </a:solidFill>
                <a:latin typeface="Montserrat Bold"/>
                <a:ea typeface="Montserrat Bold"/>
                <a:cs typeface="Montserrat Bold"/>
                <a:sym typeface="Montserrat Bold"/>
              </a:rPr>
              <a:t>Suspicious File Name: No Suspicious file name found.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41465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BROWSER HISTORY, DELETED FILES AND CRYPTO WALLET</a:t>
            </a:r>
          </a:p>
        </p:txBody>
      </p:sp>
      <p:sp>
        <p:nvSpPr>
          <p:cNvPr id="3" name="TextBox 3"/>
          <p:cNvSpPr txBox="1"/>
          <p:nvPr/>
        </p:nvSpPr>
        <p:spPr>
          <a:xfrm>
            <a:off x="1527462" y="1338645"/>
            <a:ext cx="16230600" cy="8303896"/>
          </a:xfrm>
          <a:prstGeom prst="rect">
            <a:avLst/>
          </a:prstGeom>
        </p:spPr>
        <p:txBody>
          <a:bodyPr lIns="0" tIns="0" rIns="0" bIns="0" rtlCol="0" anchor="t">
            <a:spAutoFit/>
          </a:bodyPr>
          <a:lstStyle/>
          <a:p>
            <a:pPr marL="712470" lvl="1" indent="-356235" algn="l">
              <a:lnSpc>
                <a:spcPts val="6600"/>
              </a:lnSpc>
              <a:buFont typeface="Arial"/>
              <a:buChar char="•"/>
            </a:pPr>
            <a:r>
              <a:rPr lang="en-US" sz="3300" b="1" spc="151">
                <a:solidFill>
                  <a:srgbClr val="FFFFFF"/>
                </a:solidFill>
                <a:latin typeface="Montserrat Bold"/>
                <a:ea typeface="Montserrat Bold"/>
                <a:cs typeface="Montserrat Bold"/>
                <a:sym typeface="Montserrat Bold"/>
              </a:rPr>
              <a:t>Browsers Deleted: Chrome, Nairaland, Businessday</a:t>
            </a:r>
          </a:p>
          <a:p>
            <a:pPr marL="712470" lvl="1" indent="-356235" algn="l">
              <a:lnSpc>
                <a:spcPts val="6600"/>
              </a:lnSpc>
              <a:buFont typeface="Arial"/>
              <a:buChar char="•"/>
            </a:pPr>
            <a:r>
              <a:rPr lang="en-US" sz="3300" b="1" spc="151">
                <a:solidFill>
                  <a:srgbClr val="FFFFFF"/>
                </a:solidFill>
                <a:latin typeface="Montserrat Bold"/>
                <a:ea typeface="Montserrat Bold"/>
                <a:cs typeface="Montserrat Bold"/>
                <a:sym typeface="Montserrat Bold"/>
              </a:rPr>
              <a:t>Top sites visited: https://goggle.com, https://nairaland.com, https://businessday.ng</a:t>
            </a:r>
          </a:p>
          <a:p>
            <a:pPr marL="712470" lvl="1" indent="-356235" algn="l">
              <a:lnSpc>
                <a:spcPts val="6600"/>
              </a:lnSpc>
              <a:buFont typeface="Arial"/>
              <a:buChar char="•"/>
            </a:pPr>
            <a:r>
              <a:rPr lang="en-US" sz="3300" b="1" spc="151">
                <a:solidFill>
                  <a:srgbClr val="FFFFFF"/>
                </a:solidFill>
                <a:latin typeface="Montserrat Bold"/>
                <a:ea typeface="Montserrat Bold"/>
                <a:cs typeface="Montserrat Bold"/>
                <a:sym typeface="Montserrat Bold"/>
              </a:rPr>
              <a:t>Search Queries: "How to know if EFCC is tracking you", "New and latest  investment scam format", "Scared of being arrested by EFCC"</a:t>
            </a:r>
          </a:p>
          <a:p>
            <a:pPr marL="712470" lvl="1" indent="-356235" algn="l">
              <a:lnSpc>
                <a:spcPts val="6600"/>
              </a:lnSpc>
              <a:buFont typeface="Arial"/>
              <a:buChar char="•"/>
            </a:pPr>
            <a:r>
              <a:rPr lang="en-US" sz="3300" b="1" spc="151">
                <a:solidFill>
                  <a:srgbClr val="FFFFFF"/>
                </a:solidFill>
                <a:latin typeface="Montserrat Bold"/>
                <a:ea typeface="Montserrat Bold"/>
                <a:cs typeface="Montserrat Bold"/>
                <a:sym typeface="Montserrat Bold"/>
              </a:rPr>
              <a:t> Deleted Files: There are no deleted file except for a single image found in the cache.</a:t>
            </a:r>
          </a:p>
          <a:p>
            <a:pPr marL="712470" lvl="1" indent="-356235" algn="l">
              <a:lnSpc>
                <a:spcPts val="6600"/>
              </a:lnSpc>
              <a:buFont typeface="Arial"/>
              <a:buChar char="•"/>
            </a:pPr>
            <a:r>
              <a:rPr lang="en-US" sz="3300" b="1" spc="151">
                <a:solidFill>
                  <a:srgbClr val="FFFFFF"/>
                </a:solidFill>
                <a:latin typeface="Montserrat Bold"/>
                <a:ea typeface="Montserrat Bold"/>
                <a:cs typeface="Montserrat Bold"/>
                <a:sym typeface="Montserrat Bold"/>
              </a:rPr>
              <a:t>Crypto Wallet: There are no single crypto wallet found in installed applications  but can't be viewed.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651009" y="2520315"/>
            <a:ext cx="5246370" cy="524637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l="-46153" r="-46153"/>
              </a:stretch>
            </a:blipFill>
          </p:spPr>
          <p:txBody>
            <a:bodyPr/>
            <a:lstStyle/>
            <a:p>
              <a:endParaRPr lang="en-US"/>
            </a:p>
          </p:txBody>
        </p:sp>
      </p:grpSp>
      <p:grpSp>
        <p:nvGrpSpPr>
          <p:cNvPr id="4" name="Group 4"/>
          <p:cNvGrpSpPr/>
          <p:nvPr/>
        </p:nvGrpSpPr>
        <p:grpSpPr>
          <a:xfrm>
            <a:off x="6154554" y="2520315"/>
            <a:ext cx="5246370" cy="5246370"/>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l="-46153" r="-46153"/>
              </a:stretch>
            </a:blipFill>
          </p:spPr>
          <p:txBody>
            <a:bodyPr/>
            <a:lstStyle/>
            <a:p>
              <a:endParaRPr lang="en-US"/>
            </a:p>
          </p:txBody>
        </p:sp>
      </p:grpSp>
      <p:grpSp>
        <p:nvGrpSpPr>
          <p:cNvPr id="6" name="Group 6"/>
          <p:cNvGrpSpPr/>
          <p:nvPr/>
        </p:nvGrpSpPr>
        <p:grpSpPr>
          <a:xfrm>
            <a:off x="11658099" y="2520315"/>
            <a:ext cx="5246370" cy="524637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l="-44637" r="-44637"/>
              </a:stretch>
            </a:blipFill>
          </p:spPr>
          <p:txBody>
            <a:bodyPr/>
            <a:lstStyle/>
            <a:p>
              <a:endParaRPr lang="en-US"/>
            </a:p>
          </p:txBody>
        </p:sp>
      </p:grpSp>
      <p:sp>
        <p:nvSpPr>
          <p:cNvPr id="8" name="TextBox 8"/>
          <p:cNvSpPr txBox="1"/>
          <p:nvPr/>
        </p:nvSpPr>
        <p:spPr>
          <a:xfrm>
            <a:off x="7001665" y="101917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SCREENSHOTS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507944" y="2076970"/>
            <a:ext cx="5592734" cy="5592734"/>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l="-44827" r="-44827"/>
              </a:stretch>
            </a:blipFill>
          </p:spPr>
          <p:txBody>
            <a:bodyPr/>
            <a:lstStyle/>
            <a:p>
              <a:endParaRPr lang="en-US"/>
            </a:p>
          </p:txBody>
        </p:sp>
      </p:grpSp>
      <p:grpSp>
        <p:nvGrpSpPr>
          <p:cNvPr id="4" name="Group 4"/>
          <p:cNvGrpSpPr/>
          <p:nvPr/>
        </p:nvGrpSpPr>
        <p:grpSpPr>
          <a:xfrm>
            <a:off x="6347633" y="2076970"/>
            <a:ext cx="5592734" cy="5592734"/>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l="-45238" r="-45238"/>
              </a:stretch>
            </a:blipFill>
          </p:spPr>
          <p:txBody>
            <a:bodyPr/>
            <a:lstStyle/>
            <a:p>
              <a:endParaRPr lang="en-US"/>
            </a:p>
          </p:txBody>
        </p:sp>
      </p:grpSp>
      <p:grpSp>
        <p:nvGrpSpPr>
          <p:cNvPr id="6" name="Group 6"/>
          <p:cNvGrpSpPr/>
          <p:nvPr/>
        </p:nvGrpSpPr>
        <p:grpSpPr>
          <a:xfrm>
            <a:off x="12187322" y="2076970"/>
            <a:ext cx="5592734" cy="5592734"/>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l="-50000" r="-50000"/>
              </a:stretch>
            </a:blipFill>
          </p:spPr>
          <p:txBody>
            <a:bodyPr/>
            <a:lstStyle/>
            <a:p>
              <a:endParaRPr lang="en-US"/>
            </a:p>
          </p:txBody>
        </p:sp>
      </p:grpSp>
      <p:sp>
        <p:nvSpPr>
          <p:cNvPr id="8" name="TextBox 8"/>
          <p:cNvSpPr txBox="1"/>
          <p:nvPr/>
        </p:nvSpPr>
        <p:spPr>
          <a:xfrm>
            <a:off x="7001665" y="101917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SCREENSHOTS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79864" y="2157757"/>
            <a:ext cx="7100543" cy="7100543"/>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l="-50000" r="-50000"/>
              </a:stretch>
            </a:blipFill>
          </p:spPr>
          <p:txBody>
            <a:bodyPr/>
            <a:lstStyle/>
            <a:p>
              <a:endParaRPr lang="en-US"/>
            </a:p>
          </p:txBody>
        </p:sp>
      </p:grpSp>
      <p:grpSp>
        <p:nvGrpSpPr>
          <p:cNvPr id="4" name="Group 4"/>
          <p:cNvGrpSpPr/>
          <p:nvPr/>
        </p:nvGrpSpPr>
        <p:grpSpPr>
          <a:xfrm>
            <a:off x="9576864" y="2157757"/>
            <a:ext cx="7100543" cy="7100543"/>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l="-50000" r="-50000"/>
              </a:stretch>
            </a:blipFill>
          </p:spPr>
          <p:txBody>
            <a:bodyPr/>
            <a:lstStyle/>
            <a:p>
              <a:endParaRPr lang="en-US"/>
            </a:p>
          </p:txBody>
        </p:sp>
      </p:grpSp>
      <p:sp>
        <p:nvSpPr>
          <p:cNvPr id="6" name="TextBox 6"/>
          <p:cNvSpPr txBox="1"/>
          <p:nvPr/>
        </p:nvSpPr>
        <p:spPr>
          <a:xfrm>
            <a:off x="7001665" y="1019175"/>
            <a:ext cx="18339956" cy="614045"/>
          </a:xfrm>
          <a:prstGeom prst="rect">
            <a:avLst/>
          </a:prstGeom>
        </p:spPr>
        <p:txBody>
          <a:bodyPr lIns="0" tIns="0" rIns="0" bIns="0" rtlCol="0" anchor="t">
            <a:spAutoFit/>
          </a:bodyPr>
          <a:lstStyle/>
          <a:p>
            <a:pPr algn="l">
              <a:lnSpc>
                <a:spcPts val="4839"/>
              </a:lnSpc>
            </a:pPr>
            <a:r>
              <a:rPr lang="en-US" sz="3999" b="1" spc="183">
                <a:solidFill>
                  <a:srgbClr val="00FFFF"/>
                </a:solidFill>
                <a:latin typeface="League Spartan"/>
                <a:ea typeface="League Spartan"/>
                <a:cs typeface="League Spartan"/>
                <a:sym typeface="League Spartan"/>
              </a:rPr>
              <a:t>SCREENSHOTS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53</Slides>
  <Notes>0</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Blue Modern Cyber Security Video</dc:title>
  <cp:lastModifiedBy>Akin OROMAKINDE</cp:lastModifiedBy>
  <cp:revision>2</cp:revision>
  <dcterms:created xsi:type="dcterms:W3CDTF">2006-08-16T00:00:00Z</dcterms:created>
  <dcterms:modified xsi:type="dcterms:W3CDTF">2025-10-06T00:31:18Z</dcterms:modified>
  <dc:identifier>DAGz_au4Hxo</dc:identifier>
</cp:coreProperties>
</file>